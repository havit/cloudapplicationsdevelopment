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4" r:id="rId1"/>
  </p:sldMasterIdLst>
  <p:notesMasterIdLst>
    <p:notesMasterId r:id="rId16"/>
  </p:notesMasterIdLst>
  <p:sldIdLst>
    <p:sldId id="256" r:id="rId2"/>
    <p:sldId id="319" r:id="rId3"/>
    <p:sldId id="331" r:id="rId4"/>
    <p:sldId id="320" r:id="rId5"/>
    <p:sldId id="322" r:id="rId6"/>
    <p:sldId id="321" r:id="rId7"/>
    <p:sldId id="323" r:id="rId8"/>
    <p:sldId id="329" r:id="rId9"/>
    <p:sldId id="324" r:id="rId10"/>
    <p:sldId id="326" r:id="rId11"/>
    <p:sldId id="328" r:id="rId12"/>
    <p:sldId id="325" r:id="rId13"/>
    <p:sldId id="327" r:id="rId14"/>
    <p:sldId id="304" r:id="rId15"/>
  </p:sldIdLst>
  <p:sldSz cx="12192000" cy="6858000"/>
  <p:notesSz cx="6858000" cy="9144000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97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71" autoAdjust="0"/>
    <p:restoredTop sz="69078" autoAdjust="0"/>
  </p:normalViewPr>
  <p:slideViewPr>
    <p:cSldViewPr>
      <p:cViewPr varScale="1">
        <p:scale>
          <a:sx n="132" d="100"/>
          <a:sy n="132" d="100"/>
        </p:scale>
        <p:origin x="168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E26D71-669B-4549-BCB2-066BF02D8EE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481E88-6CD3-4A56-AB12-9A38DFD61EF8}">
      <dgm:prSet/>
      <dgm:spPr/>
      <dgm:t>
        <a:bodyPr/>
        <a:lstStyle/>
        <a:p>
          <a:r>
            <a:rPr lang="cs-CZ" baseline="0"/>
            <a:t>Event Grid</a:t>
          </a:r>
          <a:endParaRPr lang="en-US"/>
        </a:p>
      </dgm:t>
    </dgm:pt>
    <dgm:pt modelId="{26FC5111-1CCE-439F-9212-194E2BCE6664}" type="parTrans" cxnId="{BD511C6F-F08B-4BA9-A362-5E17AFB307C0}">
      <dgm:prSet/>
      <dgm:spPr/>
      <dgm:t>
        <a:bodyPr/>
        <a:lstStyle/>
        <a:p>
          <a:endParaRPr lang="en-US"/>
        </a:p>
      </dgm:t>
    </dgm:pt>
    <dgm:pt modelId="{7A2BBE6A-6227-493F-BEA4-310848F55A7E}" type="sibTrans" cxnId="{BD511C6F-F08B-4BA9-A362-5E17AFB307C0}">
      <dgm:prSet/>
      <dgm:spPr/>
      <dgm:t>
        <a:bodyPr/>
        <a:lstStyle/>
        <a:p>
          <a:endParaRPr lang="en-US"/>
        </a:p>
      </dgm:t>
    </dgm:pt>
    <dgm:pt modelId="{8059E323-E391-42FC-9665-D64CDAA631AA}">
      <dgm:prSet/>
      <dgm:spPr/>
      <dgm:t>
        <a:bodyPr/>
        <a:lstStyle/>
        <a:p>
          <a:r>
            <a:rPr lang="cs-CZ" baseline="0"/>
            <a:t>Event-routing service</a:t>
          </a:r>
          <a:endParaRPr lang="en-US"/>
        </a:p>
      </dgm:t>
    </dgm:pt>
    <dgm:pt modelId="{98BD5B76-135C-47E8-A879-04913CD6E991}" type="parTrans" cxnId="{EF34AF46-F6D5-4A07-A99B-80CC3457FDAA}">
      <dgm:prSet/>
      <dgm:spPr/>
      <dgm:t>
        <a:bodyPr/>
        <a:lstStyle/>
        <a:p>
          <a:endParaRPr lang="en-US"/>
        </a:p>
      </dgm:t>
    </dgm:pt>
    <dgm:pt modelId="{52E58126-142F-4CEC-BC96-25EFCCB9CAE3}" type="sibTrans" cxnId="{EF34AF46-F6D5-4A07-A99B-80CC3457FDAA}">
      <dgm:prSet/>
      <dgm:spPr/>
      <dgm:t>
        <a:bodyPr/>
        <a:lstStyle/>
        <a:p>
          <a:endParaRPr lang="en-US"/>
        </a:p>
      </dgm:t>
    </dgm:pt>
    <dgm:pt modelId="{E8AC5B93-7ED4-42B9-B30B-BF360C06A385}">
      <dgm:prSet/>
      <dgm:spPr/>
      <dgm:t>
        <a:bodyPr/>
        <a:lstStyle/>
        <a:p>
          <a:r>
            <a:rPr lang="cs-CZ" baseline="0" dirty="0"/>
            <a:t>Publisher + </a:t>
          </a:r>
          <a:r>
            <a:rPr lang="cs-CZ" baseline="0" dirty="0" err="1"/>
            <a:t>subscriber</a:t>
          </a:r>
          <a:r>
            <a:rPr lang="cs-CZ" baseline="0" dirty="0"/>
            <a:t> model</a:t>
          </a:r>
          <a:endParaRPr lang="en-US" dirty="0"/>
        </a:p>
      </dgm:t>
    </dgm:pt>
    <dgm:pt modelId="{C5606502-D58E-42A1-B439-D95CE8C89A00}" type="parTrans" cxnId="{34F1B46D-7E19-4BB8-849C-3817056E325C}">
      <dgm:prSet/>
      <dgm:spPr/>
      <dgm:t>
        <a:bodyPr/>
        <a:lstStyle/>
        <a:p>
          <a:endParaRPr lang="en-US"/>
        </a:p>
      </dgm:t>
    </dgm:pt>
    <dgm:pt modelId="{E6478B14-C959-48D6-8664-ED6B10027CAD}" type="sibTrans" cxnId="{34F1B46D-7E19-4BB8-849C-3817056E325C}">
      <dgm:prSet/>
      <dgm:spPr/>
      <dgm:t>
        <a:bodyPr/>
        <a:lstStyle/>
        <a:p>
          <a:endParaRPr lang="en-US"/>
        </a:p>
      </dgm:t>
    </dgm:pt>
    <dgm:pt modelId="{9420E302-0FB4-47BA-8053-534E15A1D330}">
      <dgm:prSet/>
      <dgm:spPr/>
      <dgm:t>
        <a:bodyPr/>
        <a:lstStyle/>
        <a:p>
          <a:r>
            <a:rPr lang="cs-CZ" baseline="0" dirty="0" err="1"/>
            <a:t>Can</a:t>
          </a:r>
          <a:r>
            <a:rPr lang="cs-CZ" baseline="0" dirty="0"/>
            <a:t> </a:t>
          </a:r>
          <a:r>
            <a:rPr lang="cs-CZ" baseline="0" dirty="0" err="1"/>
            <a:t>subscribe</a:t>
          </a:r>
          <a:r>
            <a:rPr lang="cs-CZ" baseline="0" dirty="0"/>
            <a:t> to </a:t>
          </a:r>
          <a:r>
            <a:rPr lang="cs-CZ" baseline="0" dirty="0" err="1"/>
            <a:t>events</a:t>
          </a:r>
          <a:r>
            <a:rPr lang="cs-CZ" baseline="0" dirty="0"/>
            <a:t> </a:t>
          </a:r>
          <a:r>
            <a:rPr lang="cs-CZ" baseline="0" dirty="0" err="1"/>
            <a:t>created</a:t>
          </a:r>
          <a:r>
            <a:rPr lang="cs-CZ" baseline="0" dirty="0"/>
            <a:t> in Azure (</a:t>
          </a:r>
          <a:r>
            <a:rPr lang="cs-CZ" baseline="0" dirty="0" err="1"/>
            <a:t>scaling</a:t>
          </a:r>
          <a:r>
            <a:rPr lang="cs-CZ" baseline="0" dirty="0"/>
            <a:t> …) </a:t>
          </a:r>
          <a:endParaRPr lang="en-US" dirty="0"/>
        </a:p>
      </dgm:t>
    </dgm:pt>
    <dgm:pt modelId="{8E5AF095-3F97-4146-BC30-C1466B4EDAB1}" type="parTrans" cxnId="{3FD72A64-8E1F-4AC0-AA6F-D62B1D843926}">
      <dgm:prSet/>
      <dgm:spPr/>
      <dgm:t>
        <a:bodyPr/>
        <a:lstStyle/>
        <a:p>
          <a:endParaRPr lang="en-US"/>
        </a:p>
      </dgm:t>
    </dgm:pt>
    <dgm:pt modelId="{7782D6B4-8DEA-4A77-8F5A-5F7A3C532065}" type="sibTrans" cxnId="{3FD72A64-8E1F-4AC0-AA6F-D62B1D843926}">
      <dgm:prSet/>
      <dgm:spPr/>
      <dgm:t>
        <a:bodyPr/>
        <a:lstStyle/>
        <a:p>
          <a:endParaRPr lang="en-US"/>
        </a:p>
      </dgm:t>
    </dgm:pt>
    <dgm:pt modelId="{9FAA8C5A-4C69-44C8-A4A2-AB6C3C572AF1}">
      <dgm:prSet/>
      <dgm:spPr/>
      <dgm:t>
        <a:bodyPr/>
        <a:lstStyle/>
        <a:p>
          <a:r>
            <a:rPr lang="en-US" baseline="0"/>
            <a:t>Event Hub</a:t>
          </a:r>
          <a:endParaRPr lang="en-US"/>
        </a:p>
      </dgm:t>
    </dgm:pt>
    <dgm:pt modelId="{BD2FFE38-90DA-4EE3-BE1A-8948E5B87BDA}" type="parTrans" cxnId="{C503704B-3E27-4631-96A6-DA33DB0E4424}">
      <dgm:prSet/>
      <dgm:spPr/>
      <dgm:t>
        <a:bodyPr/>
        <a:lstStyle/>
        <a:p>
          <a:endParaRPr lang="en-US"/>
        </a:p>
      </dgm:t>
    </dgm:pt>
    <dgm:pt modelId="{C0EF580A-DDF3-40AB-94CB-7664831ADCED}" type="sibTrans" cxnId="{C503704B-3E27-4631-96A6-DA33DB0E4424}">
      <dgm:prSet/>
      <dgm:spPr/>
      <dgm:t>
        <a:bodyPr/>
        <a:lstStyle/>
        <a:p>
          <a:endParaRPr lang="en-US"/>
        </a:p>
      </dgm:t>
    </dgm:pt>
    <dgm:pt modelId="{EE08F9E3-1187-4B53-A2CA-D823695E64E8}">
      <dgm:prSet/>
      <dgm:spPr/>
      <dgm:t>
        <a:bodyPr/>
        <a:lstStyle/>
        <a:p>
          <a:r>
            <a:rPr lang="en-US" baseline="0"/>
            <a:t>Telemetry-events</a:t>
          </a:r>
          <a:endParaRPr lang="en-US"/>
        </a:p>
      </dgm:t>
    </dgm:pt>
    <dgm:pt modelId="{E1313CE4-2B79-402B-9FCF-8CC1C1710BB2}" type="parTrans" cxnId="{402E3450-7448-49AE-94C1-AE78CF1B09A5}">
      <dgm:prSet/>
      <dgm:spPr/>
      <dgm:t>
        <a:bodyPr/>
        <a:lstStyle/>
        <a:p>
          <a:endParaRPr lang="en-US"/>
        </a:p>
      </dgm:t>
    </dgm:pt>
    <dgm:pt modelId="{8901A4B8-BB58-41BB-A433-7D1F670AE119}" type="sibTrans" cxnId="{402E3450-7448-49AE-94C1-AE78CF1B09A5}">
      <dgm:prSet/>
      <dgm:spPr/>
      <dgm:t>
        <a:bodyPr/>
        <a:lstStyle/>
        <a:p>
          <a:endParaRPr lang="en-US"/>
        </a:p>
      </dgm:t>
    </dgm:pt>
    <dgm:pt modelId="{DEF10069-C53C-4108-9C05-F8EF5BAAF817}">
      <dgm:prSet/>
      <dgm:spPr/>
      <dgm:t>
        <a:bodyPr/>
        <a:lstStyle/>
        <a:p>
          <a:r>
            <a:rPr lang="en-US" baseline="0" dirty="0"/>
            <a:t>Pull model</a:t>
          </a:r>
          <a:endParaRPr lang="en-US" dirty="0"/>
        </a:p>
      </dgm:t>
    </dgm:pt>
    <dgm:pt modelId="{A64D0500-689B-49DB-88F5-BABA411AC590}" type="parTrans" cxnId="{C479490B-FB91-4640-B198-CCA489A517EB}">
      <dgm:prSet/>
      <dgm:spPr/>
      <dgm:t>
        <a:bodyPr/>
        <a:lstStyle/>
        <a:p>
          <a:endParaRPr lang="en-US"/>
        </a:p>
      </dgm:t>
    </dgm:pt>
    <dgm:pt modelId="{C2255A70-C29B-418F-A6E4-9C694E687FA6}" type="sibTrans" cxnId="{C479490B-FB91-4640-B198-CCA489A517EB}">
      <dgm:prSet/>
      <dgm:spPr/>
      <dgm:t>
        <a:bodyPr/>
        <a:lstStyle/>
        <a:p>
          <a:endParaRPr lang="en-US"/>
        </a:p>
      </dgm:t>
    </dgm:pt>
    <dgm:pt modelId="{47A0F857-5728-4999-8443-2DD738D32D86}">
      <dgm:prSet/>
      <dgm:spPr/>
      <dgm:t>
        <a:bodyPr/>
        <a:lstStyle/>
        <a:p>
          <a:r>
            <a:rPr lang="en-US" baseline="0"/>
            <a:t>Service bus</a:t>
          </a:r>
          <a:endParaRPr lang="en-US"/>
        </a:p>
      </dgm:t>
    </dgm:pt>
    <dgm:pt modelId="{2E482018-37BC-4B97-A586-6A10861DAC12}" type="parTrans" cxnId="{203AD83A-8225-4EE2-8D81-A1DA8D11478E}">
      <dgm:prSet/>
      <dgm:spPr/>
      <dgm:t>
        <a:bodyPr/>
        <a:lstStyle/>
        <a:p>
          <a:endParaRPr lang="en-US"/>
        </a:p>
      </dgm:t>
    </dgm:pt>
    <dgm:pt modelId="{E01E6116-DFAA-417F-8E51-A710A4605980}" type="sibTrans" cxnId="{203AD83A-8225-4EE2-8D81-A1DA8D11478E}">
      <dgm:prSet/>
      <dgm:spPr/>
      <dgm:t>
        <a:bodyPr/>
        <a:lstStyle/>
        <a:p>
          <a:endParaRPr lang="en-US"/>
        </a:p>
      </dgm:t>
    </dgm:pt>
    <dgm:pt modelId="{128A79E9-FBAF-4FBD-B6A8-B9A2F393F5EB}">
      <dgm:prSet/>
      <dgm:spPr/>
      <dgm:t>
        <a:bodyPr/>
        <a:lstStyle/>
        <a:p>
          <a:r>
            <a:rPr lang="en-US" baseline="0"/>
            <a:t>Enterprise message broker</a:t>
          </a:r>
          <a:endParaRPr lang="en-US"/>
        </a:p>
      </dgm:t>
    </dgm:pt>
    <dgm:pt modelId="{3F945981-2D36-4AF5-B864-77FC6C69C7D5}" type="parTrans" cxnId="{54609386-8FC2-471F-87C0-0F7A080AB622}">
      <dgm:prSet/>
      <dgm:spPr/>
      <dgm:t>
        <a:bodyPr/>
        <a:lstStyle/>
        <a:p>
          <a:endParaRPr lang="en-US"/>
        </a:p>
      </dgm:t>
    </dgm:pt>
    <dgm:pt modelId="{33F04038-7E3F-46A9-ABEB-3508EA701BA2}" type="sibTrans" cxnId="{54609386-8FC2-471F-87C0-0F7A080AB622}">
      <dgm:prSet/>
      <dgm:spPr/>
      <dgm:t>
        <a:bodyPr/>
        <a:lstStyle/>
        <a:p>
          <a:endParaRPr lang="en-US"/>
        </a:p>
      </dgm:t>
    </dgm:pt>
    <dgm:pt modelId="{0580ABC3-FBC4-4EBF-973E-302F540D5190}">
      <dgm:prSet/>
      <dgm:spPr/>
      <dgm:t>
        <a:bodyPr/>
        <a:lstStyle/>
        <a:p>
          <a:r>
            <a:rPr lang="en-US" baseline="0"/>
            <a:t>Point – to – point, pub / sub, request – response </a:t>
          </a:r>
          <a:endParaRPr lang="en-US"/>
        </a:p>
      </dgm:t>
    </dgm:pt>
    <dgm:pt modelId="{EE636D50-B2D4-4A26-BFA4-2B87579D4627}" type="parTrans" cxnId="{7F37D827-AF66-478C-B682-E6E3E27BB7ED}">
      <dgm:prSet/>
      <dgm:spPr/>
      <dgm:t>
        <a:bodyPr/>
        <a:lstStyle/>
        <a:p>
          <a:endParaRPr lang="en-US"/>
        </a:p>
      </dgm:t>
    </dgm:pt>
    <dgm:pt modelId="{7F1532BE-084A-4851-8B78-F0A5F28CDFBF}" type="sibTrans" cxnId="{7F37D827-AF66-478C-B682-E6E3E27BB7ED}">
      <dgm:prSet/>
      <dgm:spPr/>
      <dgm:t>
        <a:bodyPr/>
        <a:lstStyle/>
        <a:p>
          <a:endParaRPr lang="en-US"/>
        </a:p>
      </dgm:t>
    </dgm:pt>
    <dgm:pt modelId="{BC126AF0-2980-4BF5-9772-D1C62AFF9A81}">
      <dgm:prSet/>
      <dgm:spPr/>
      <dgm:t>
        <a:bodyPr/>
        <a:lstStyle/>
        <a:p>
          <a:r>
            <a:rPr lang="en-US" baseline="0"/>
            <a:t>Reliable and secure</a:t>
          </a:r>
          <a:endParaRPr lang="en-US"/>
        </a:p>
      </dgm:t>
    </dgm:pt>
    <dgm:pt modelId="{879060F2-0533-4E73-98C2-D9A2F559A377}" type="parTrans" cxnId="{7B2131BE-290F-421A-889F-1A844260499E}">
      <dgm:prSet/>
      <dgm:spPr/>
      <dgm:t>
        <a:bodyPr/>
        <a:lstStyle/>
        <a:p>
          <a:endParaRPr lang="en-US"/>
        </a:p>
      </dgm:t>
    </dgm:pt>
    <dgm:pt modelId="{599F1376-86A5-48B5-A82A-4F925809AB63}" type="sibTrans" cxnId="{7B2131BE-290F-421A-889F-1A844260499E}">
      <dgm:prSet/>
      <dgm:spPr/>
      <dgm:t>
        <a:bodyPr/>
        <a:lstStyle/>
        <a:p>
          <a:endParaRPr lang="en-US"/>
        </a:p>
      </dgm:t>
    </dgm:pt>
    <dgm:pt modelId="{E7D95B66-F6E9-4ADF-8539-D9915FD737D9}">
      <dgm:prSet/>
      <dgm:spPr/>
      <dgm:t>
        <a:bodyPr/>
        <a:lstStyle/>
        <a:p>
          <a:r>
            <a:rPr lang="cs-CZ" baseline="0"/>
            <a:t>Functions</a:t>
          </a:r>
          <a:endParaRPr lang="en-US"/>
        </a:p>
      </dgm:t>
    </dgm:pt>
    <dgm:pt modelId="{17E15812-EAF1-4485-9E6A-96F7458BA3FA}" type="parTrans" cxnId="{595D4BC5-7D04-4D74-A7CD-E6436332E418}">
      <dgm:prSet/>
      <dgm:spPr/>
      <dgm:t>
        <a:bodyPr/>
        <a:lstStyle/>
        <a:p>
          <a:endParaRPr lang="en-US"/>
        </a:p>
      </dgm:t>
    </dgm:pt>
    <dgm:pt modelId="{421A1ABA-C0EB-4996-BB22-B475543A3F13}" type="sibTrans" cxnId="{595D4BC5-7D04-4D74-A7CD-E6436332E418}">
      <dgm:prSet/>
      <dgm:spPr/>
      <dgm:t>
        <a:bodyPr/>
        <a:lstStyle/>
        <a:p>
          <a:endParaRPr lang="en-US"/>
        </a:p>
      </dgm:t>
    </dgm:pt>
    <dgm:pt modelId="{61FDBB0E-4F95-465B-B36F-3BEE5F391AEF}">
      <dgm:prSet/>
      <dgm:spPr/>
      <dgm:t>
        <a:bodyPr/>
        <a:lstStyle/>
        <a:p>
          <a:r>
            <a:rPr lang="cs-CZ" baseline="0"/>
            <a:t>Execute your code based on events</a:t>
          </a:r>
          <a:endParaRPr lang="en-US"/>
        </a:p>
      </dgm:t>
    </dgm:pt>
    <dgm:pt modelId="{AC73900B-C539-47F6-B8C5-1BF5EDA3E7D7}" type="parTrans" cxnId="{DCBBDB1D-7D2A-458F-B675-DC1B126A425F}">
      <dgm:prSet/>
      <dgm:spPr/>
      <dgm:t>
        <a:bodyPr/>
        <a:lstStyle/>
        <a:p>
          <a:endParaRPr lang="en-US"/>
        </a:p>
      </dgm:t>
    </dgm:pt>
    <dgm:pt modelId="{4F187FE2-AAB6-4160-A30D-00CEF6F5D2D5}" type="sibTrans" cxnId="{DCBBDB1D-7D2A-458F-B675-DC1B126A425F}">
      <dgm:prSet/>
      <dgm:spPr/>
      <dgm:t>
        <a:bodyPr/>
        <a:lstStyle/>
        <a:p>
          <a:endParaRPr lang="en-US"/>
        </a:p>
      </dgm:t>
    </dgm:pt>
    <dgm:pt modelId="{1408DC3D-993C-4690-A8C4-E69410837D25}">
      <dgm:prSet/>
      <dgm:spPr/>
      <dgm:t>
        <a:bodyPr/>
        <a:lstStyle/>
        <a:p>
          <a:r>
            <a:rPr lang="cs-CZ" baseline="0"/>
            <a:t>Languages: C#, JavaScript, Python, Java</a:t>
          </a:r>
          <a:r>
            <a:rPr lang="en-US" baseline="0"/>
            <a:t>, Powershell, TypeScript, Go/Rust/other </a:t>
          </a:r>
          <a:r>
            <a:rPr lang="cs-CZ" baseline="0"/>
            <a:t>(</a:t>
          </a:r>
          <a:r>
            <a:rPr lang="en-US" baseline="0"/>
            <a:t>with custom handlers)</a:t>
          </a:r>
          <a:endParaRPr lang="en-US"/>
        </a:p>
      </dgm:t>
    </dgm:pt>
    <dgm:pt modelId="{CC6FAB10-F1DB-49C9-9DB5-B1DD93CF545F}" type="parTrans" cxnId="{FD93DD5F-61F5-4896-ACBE-A4146D292132}">
      <dgm:prSet/>
      <dgm:spPr/>
      <dgm:t>
        <a:bodyPr/>
        <a:lstStyle/>
        <a:p>
          <a:endParaRPr lang="en-US"/>
        </a:p>
      </dgm:t>
    </dgm:pt>
    <dgm:pt modelId="{B66EADC1-10C2-4054-996B-29354D01101D}" type="sibTrans" cxnId="{FD93DD5F-61F5-4896-ACBE-A4146D292132}">
      <dgm:prSet/>
      <dgm:spPr/>
      <dgm:t>
        <a:bodyPr/>
        <a:lstStyle/>
        <a:p>
          <a:endParaRPr lang="en-US"/>
        </a:p>
      </dgm:t>
    </dgm:pt>
    <dgm:pt modelId="{83800399-DBFE-41CF-B97D-FBB6AEA97F1B}">
      <dgm:prSet/>
      <dgm:spPr/>
      <dgm:t>
        <a:bodyPr/>
        <a:lstStyle/>
        <a:p>
          <a:r>
            <a:rPr lang="cs-CZ" baseline="0"/>
            <a:t>Logic Apps</a:t>
          </a:r>
          <a:endParaRPr lang="en-US"/>
        </a:p>
      </dgm:t>
    </dgm:pt>
    <dgm:pt modelId="{3F3231B0-96F2-4E4D-8051-CF5D98169D54}" type="parTrans" cxnId="{15865C56-D8DD-4F2B-AB4C-BDF710927002}">
      <dgm:prSet/>
      <dgm:spPr/>
      <dgm:t>
        <a:bodyPr/>
        <a:lstStyle/>
        <a:p>
          <a:endParaRPr lang="en-US"/>
        </a:p>
      </dgm:t>
    </dgm:pt>
    <dgm:pt modelId="{77BD2A8E-C568-4751-AEB0-D400E9B3A6C5}" type="sibTrans" cxnId="{15865C56-D8DD-4F2B-AB4C-BDF710927002}">
      <dgm:prSet/>
      <dgm:spPr/>
      <dgm:t>
        <a:bodyPr/>
        <a:lstStyle/>
        <a:p>
          <a:endParaRPr lang="en-US"/>
        </a:p>
      </dgm:t>
    </dgm:pt>
    <dgm:pt modelId="{0FCAC6D9-C9D1-4667-B6D2-F2AEA0752324}">
      <dgm:prSet/>
      <dgm:spPr/>
      <dgm:t>
        <a:bodyPr/>
        <a:lstStyle/>
        <a:p>
          <a:r>
            <a:rPr lang="en-US" baseline="0"/>
            <a:t>“No code”</a:t>
          </a:r>
          <a:endParaRPr lang="en-US"/>
        </a:p>
      </dgm:t>
    </dgm:pt>
    <dgm:pt modelId="{CEF1345B-A491-4B7D-ACD6-8FDC0241D4DD}" type="parTrans" cxnId="{63A80C22-54D4-40E2-9DC6-524262D67C14}">
      <dgm:prSet/>
      <dgm:spPr/>
      <dgm:t>
        <a:bodyPr/>
        <a:lstStyle/>
        <a:p>
          <a:endParaRPr lang="en-US"/>
        </a:p>
      </dgm:t>
    </dgm:pt>
    <dgm:pt modelId="{7A725E41-AE63-4366-AD6E-DE8408253F63}" type="sibTrans" cxnId="{63A80C22-54D4-40E2-9DC6-524262D67C14}">
      <dgm:prSet/>
      <dgm:spPr/>
      <dgm:t>
        <a:bodyPr/>
        <a:lstStyle/>
        <a:p>
          <a:endParaRPr lang="en-US"/>
        </a:p>
      </dgm:t>
    </dgm:pt>
    <dgm:pt modelId="{D99DC5B8-0678-46EE-A121-C2230CA16E87}">
      <dgm:prSet/>
      <dgm:spPr/>
      <dgm:t>
        <a:bodyPr/>
        <a:lstStyle/>
        <a:p>
          <a:r>
            <a:rPr lang="cs-CZ" baseline="0"/>
            <a:t>Design workflows and orchestrate processes</a:t>
          </a:r>
          <a:endParaRPr lang="en-US"/>
        </a:p>
      </dgm:t>
    </dgm:pt>
    <dgm:pt modelId="{3513D875-747D-4D08-9B3D-45D2E6367384}" type="parTrans" cxnId="{CA60EB69-BABF-4EDC-A90A-CC4263B4F6C3}">
      <dgm:prSet/>
      <dgm:spPr/>
      <dgm:t>
        <a:bodyPr/>
        <a:lstStyle/>
        <a:p>
          <a:endParaRPr lang="en-US"/>
        </a:p>
      </dgm:t>
    </dgm:pt>
    <dgm:pt modelId="{7A493FC8-A990-4778-9F92-BD9AD0C6FDC8}" type="sibTrans" cxnId="{CA60EB69-BABF-4EDC-A90A-CC4263B4F6C3}">
      <dgm:prSet/>
      <dgm:spPr/>
      <dgm:t>
        <a:bodyPr/>
        <a:lstStyle/>
        <a:p>
          <a:endParaRPr lang="en-US"/>
        </a:p>
      </dgm:t>
    </dgm:pt>
    <dgm:pt modelId="{AD922C89-9CA2-104F-89A3-62697056BFDF}">
      <dgm:prSet/>
      <dgm:spPr/>
      <dgm:t>
        <a:bodyPr/>
        <a:lstStyle/>
        <a:p>
          <a:r>
            <a:rPr lang="en-US" dirty="0"/>
            <a:t>Millions events per second</a:t>
          </a:r>
        </a:p>
      </dgm:t>
    </dgm:pt>
    <dgm:pt modelId="{FD042DD1-0DC3-1F4E-9E98-54B10178442E}" type="parTrans" cxnId="{1096E644-A3BE-3745-B3E8-2F5BF9E4DE3F}">
      <dgm:prSet/>
      <dgm:spPr/>
    </dgm:pt>
    <dgm:pt modelId="{EE15C4AF-D94C-ED4F-8F4F-F0507F8F6446}" type="sibTrans" cxnId="{1096E644-A3BE-3745-B3E8-2F5BF9E4DE3F}">
      <dgm:prSet/>
      <dgm:spPr/>
    </dgm:pt>
    <dgm:pt modelId="{94CDCDF7-A0CD-EA4E-B039-F0E18EB96BD9}">
      <dgm:prSet/>
      <dgm:spPr/>
      <dgm:t>
        <a:bodyPr/>
        <a:lstStyle/>
        <a:p>
          <a:r>
            <a:rPr lang="en-US" dirty="0"/>
            <a:t>Persisted data</a:t>
          </a:r>
        </a:p>
      </dgm:t>
    </dgm:pt>
    <dgm:pt modelId="{82D809DA-E90B-944C-A04E-E244232596D2}" type="parTrans" cxnId="{ACDA7CAD-654E-334D-8699-C0109FCDD10F}">
      <dgm:prSet/>
      <dgm:spPr/>
    </dgm:pt>
    <dgm:pt modelId="{A4DED700-E3AD-6B49-9E50-EFC18E1C917E}" type="sibTrans" cxnId="{ACDA7CAD-654E-334D-8699-C0109FCDD10F}">
      <dgm:prSet/>
      <dgm:spPr/>
    </dgm:pt>
    <dgm:pt modelId="{75F9BEBA-7A5C-C94F-A2AF-5CB07EF3C64F}" type="pres">
      <dgm:prSet presAssocID="{68E26D71-669B-4549-BCB2-066BF02D8EE5}" presName="Name0" presStyleCnt="0">
        <dgm:presLayoutVars>
          <dgm:dir/>
          <dgm:animLvl val="lvl"/>
          <dgm:resizeHandles val="exact"/>
        </dgm:presLayoutVars>
      </dgm:prSet>
      <dgm:spPr/>
    </dgm:pt>
    <dgm:pt modelId="{B2AF0337-295F-9740-B146-DEA922DF0DCF}" type="pres">
      <dgm:prSet presAssocID="{0B481E88-6CD3-4A56-AB12-9A38DFD61EF8}" presName="composite" presStyleCnt="0"/>
      <dgm:spPr/>
    </dgm:pt>
    <dgm:pt modelId="{F9489CC3-55E9-044C-A0E2-76FC04AE094F}" type="pres">
      <dgm:prSet presAssocID="{0B481E88-6CD3-4A56-AB12-9A38DFD61EF8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6C2EAC15-D6A2-574B-94FE-7AFB549C0BE3}" type="pres">
      <dgm:prSet presAssocID="{0B481E88-6CD3-4A56-AB12-9A38DFD61EF8}" presName="desTx" presStyleLbl="alignAccFollowNode1" presStyleIdx="0" presStyleCnt="5">
        <dgm:presLayoutVars>
          <dgm:bulletEnabled val="1"/>
        </dgm:presLayoutVars>
      </dgm:prSet>
      <dgm:spPr/>
    </dgm:pt>
    <dgm:pt modelId="{6D513513-9CEB-7F4F-A5F5-C3DE62165FF5}" type="pres">
      <dgm:prSet presAssocID="{7A2BBE6A-6227-493F-BEA4-310848F55A7E}" presName="space" presStyleCnt="0"/>
      <dgm:spPr/>
    </dgm:pt>
    <dgm:pt modelId="{89AEBF2C-0249-5243-9317-162C51E122ED}" type="pres">
      <dgm:prSet presAssocID="{9FAA8C5A-4C69-44C8-A4A2-AB6C3C572AF1}" presName="composite" presStyleCnt="0"/>
      <dgm:spPr/>
    </dgm:pt>
    <dgm:pt modelId="{445F6926-1C31-7E4D-8D4A-83DB974BA56D}" type="pres">
      <dgm:prSet presAssocID="{9FAA8C5A-4C69-44C8-A4A2-AB6C3C572AF1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CD119A9E-C687-F340-9090-8E54FE836FEC}" type="pres">
      <dgm:prSet presAssocID="{9FAA8C5A-4C69-44C8-A4A2-AB6C3C572AF1}" presName="desTx" presStyleLbl="alignAccFollowNode1" presStyleIdx="1" presStyleCnt="5">
        <dgm:presLayoutVars>
          <dgm:bulletEnabled val="1"/>
        </dgm:presLayoutVars>
      </dgm:prSet>
      <dgm:spPr/>
    </dgm:pt>
    <dgm:pt modelId="{707B2F46-BD02-6A4A-AE83-760F18696755}" type="pres">
      <dgm:prSet presAssocID="{C0EF580A-DDF3-40AB-94CB-7664831ADCED}" presName="space" presStyleCnt="0"/>
      <dgm:spPr/>
    </dgm:pt>
    <dgm:pt modelId="{FA74E9D1-7C76-F44B-B1DC-7EA6BD91D524}" type="pres">
      <dgm:prSet presAssocID="{47A0F857-5728-4999-8443-2DD738D32D86}" presName="composite" presStyleCnt="0"/>
      <dgm:spPr/>
    </dgm:pt>
    <dgm:pt modelId="{39AEA6CA-6B6B-AA4E-AD14-FABEA630B54F}" type="pres">
      <dgm:prSet presAssocID="{47A0F857-5728-4999-8443-2DD738D32D86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41145BAC-F341-6E41-BD69-62CD582CFB26}" type="pres">
      <dgm:prSet presAssocID="{47A0F857-5728-4999-8443-2DD738D32D86}" presName="desTx" presStyleLbl="alignAccFollowNode1" presStyleIdx="2" presStyleCnt="5">
        <dgm:presLayoutVars>
          <dgm:bulletEnabled val="1"/>
        </dgm:presLayoutVars>
      </dgm:prSet>
      <dgm:spPr/>
    </dgm:pt>
    <dgm:pt modelId="{D76B90B9-070E-4241-B1BF-F38B347E69DF}" type="pres">
      <dgm:prSet presAssocID="{E01E6116-DFAA-417F-8E51-A710A4605980}" presName="space" presStyleCnt="0"/>
      <dgm:spPr/>
    </dgm:pt>
    <dgm:pt modelId="{20D0F5C6-6D8B-9849-B078-33AB33F5C1BE}" type="pres">
      <dgm:prSet presAssocID="{E7D95B66-F6E9-4ADF-8539-D9915FD737D9}" presName="composite" presStyleCnt="0"/>
      <dgm:spPr/>
    </dgm:pt>
    <dgm:pt modelId="{D343274B-9F2E-E743-80BA-9BB895FE9C87}" type="pres">
      <dgm:prSet presAssocID="{E7D95B66-F6E9-4ADF-8539-D9915FD737D9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4AC036A3-077D-874D-AB93-48A5DD6501FE}" type="pres">
      <dgm:prSet presAssocID="{E7D95B66-F6E9-4ADF-8539-D9915FD737D9}" presName="desTx" presStyleLbl="alignAccFollowNode1" presStyleIdx="3" presStyleCnt="5">
        <dgm:presLayoutVars>
          <dgm:bulletEnabled val="1"/>
        </dgm:presLayoutVars>
      </dgm:prSet>
      <dgm:spPr/>
    </dgm:pt>
    <dgm:pt modelId="{DF8AC1A2-95E4-AA49-B422-88A8ED68D7DF}" type="pres">
      <dgm:prSet presAssocID="{421A1ABA-C0EB-4996-BB22-B475543A3F13}" presName="space" presStyleCnt="0"/>
      <dgm:spPr/>
    </dgm:pt>
    <dgm:pt modelId="{93936558-54CA-3548-A388-E8078E519D3D}" type="pres">
      <dgm:prSet presAssocID="{83800399-DBFE-41CF-B97D-FBB6AEA97F1B}" presName="composite" presStyleCnt="0"/>
      <dgm:spPr/>
    </dgm:pt>
    <dgm:pt modelId="{39CC363B-AA8C-724E-998C-4B10C5171E21}" type="pres">
      <dgm:prSet presAssocID="{83800399-DBFE-41CF-B97D-FBB6AEA97F1B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8716E1BB-7DDC-AE4A-ABFE-0043A6BFD317}" type="pres">
      <dgm:prSet presAssocID="{83800399-DBFE-41CF-B97D-FBB6AEA97F1B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757D1703-45F3-C748-B5F0-2F172F3ECD82}" type="presOf" srcId="{1408DC3D-993C-4690-A8C4-E69410837D25}" destId="{4AC036A3-077D-874D-AB93-48A5DD6501FE}" srcOrd="0" destOrd="1" presId="urn:microsoft.com/office/officeart/2005/8/layout/hList1"/>
    <dgm:cxn modelId="{C479490B-FB91-4640-B198-CCA489A517EB}" srcId="{9FAA8C5A-4C69-44C8-A4A2-AB6C3C572AF1}" destId="{DEF10069-C53C-4108-9C05-F8EF5BAAF817}" srcOrd="1" destOrd="0" parTransId="{A64D0500-689B-49DB-88F5-BABA411AC590}" sibTransId="{C2255A70-C29B-418F-A6E4-9C694E687FA6}"/>
    <dgm:cxn modelId="{46898610-CF05-BB4E-BDB4-0FF678AB0F12}" type="presOf" srcId="{9FAA8C5A-4C69-44C8-A4A2-AB6C3C572AF1}" destId="{445F6926-1C31-7E4D-8D4A-83DB974BA56D}" srcOrd="0" destOrd="0" presId="urn:microsoft.com/office/officeart/2005/8/layout/hList1"/>
    <dgm:cxn modelId="{DCBBDB1D-7D2A-458F-B675-DC1B126A425F}" srcId="{E7D95B66-F6E9-4ADF-8539-D9915FD737D9}" destId="{61FDBB0E-4F95-465B-B36F-3BEE5F391AEF}" srcOrd="0" destOrd="0" parTransId="{AC73900B-C539-47F6-B8C5-1BF5EDA3E7D7}" sibTransId="{4F187FE2-AAB6-4160-A30D-00CEF6F5D2D5}"/>
    <dgm:cxn modelId="{4665561E-ED1B-824B-B0CA-A34946F840B7}" type="presOf" srcId="{68E26D71-669B-4549-BCB2-066BF02D8EE5}" destId="{75F9BEBA-7A5C-C94F-A2AF-5CB07EF3C64F}" srcOrd="0" destOrd="0" presId="urn:microsoft.com/office/officeart/2005/8/layout/hList1"/>
    <dgm:cxn modelId="{63A80C22-54D4-40E2-9DC6-524262D67C14}" srcId="{83800399-DBFE-41CF-B97D-FBB6AEA97F1B}" destId="{0FCAC6D9-C9D1-4667-B6D2-F2AEA0752324}" srcOrd="0" destOrd="0" parTransId="{CEF1345B-A491-4B7D-ACD6-8FDC0241D4DD}" sibTransId="{7A725E41-AE63-4366-AD6E-DE8408253F63}"/>
    <dgm:cxn modelId="{7F37D827-AF66-478C-B682-E6E3E27BB7ED}" srcId="{47A0F857-5728-4999-8443-2DD738D32D86}" destId="{0580ABC3-FBC4-4EBF-973E-302F540D5190}" srcOrd="1" destOrd="0" parTransId="{EE636D50-B2D4-4A26-BFA4-2B87579D4627}" sibTransId="{7F1532BE-084A-4851-8B78-F0A5F28CDFBF}"/>
    <dgm:cxn modelId="{F34B5C32-EBBB-A24C-A32D-F39115DE9B46}" type="presOf" srcId="{47A0F857-5728-4999-8443-2DD738D32D86}" destId="{39AEA6CA-6B6B-AA4E-AD14-FABEA630B54F}" srcOrd="0" destOrd="0" presId="urn:microsoft.com/office/officeart/2005/8/layout/hList1"/>
    <dgm:cxn modelId="{203AD83A-8225-4EE2-8D81-A1DA8D11478E}" srcId="{68E26D71-669B-4549-BCB2-066BF02D8EE5}" destId="{47A0F857-5728-4999-8443-2DD738D32D86}" srcOrd="2" destOrd="0" parTransId="{2E482018-37BC-4B97-A586-6A10861DAC12}" sibTransId="{E01E6116-DFAA-417F-8E51-A710A4605980}"/>
    <dgm:cxn modelId="{1096E644-A3BE-3745-B3E8-2F5BF9E4DE3F}" srcId="{9FAA8C5A-4C69-44C8-A4A2-AB6C3C572AF1}" destId="{AD922C89-9CA2-104F-89A3-62697056BFDF}" srcOrd="2" destOrd="0" parTransId="{FD042DD1-0DC3-1F4E-9E98-54B10178442E}" sibTransId="{EE15C4AF-D94C-ED4F-8F4F-F0507F8F6446}"/>
    <dgm:cxn modelId="{EF34AF46-F6D5-4A07-A99B-80CC3457FDAA}" srcId="{0B481E88-6CD3-4A56-AB12-9A38DFD61EF8}" destId="{8059E323-E391-42FC-9665-D64CDAA631AA}" srcOrd="0" destOrd="0" parTransId="{98BD5B76-135C-47E8-A879-04913CD6E991}" sibTransId="{52E58126-142F-4CEC-BC96-25EFCCB9CAE3}"/>
    <dgm:cxn modelId="{C503704B-3E27-4631-96A6-DA33DB0E4424}" srcId="{68E26D71-669B-4549-BCB2-066BF02D8EE5}" destId="{9FAA8C5A-4C69-44C8-A4A2-AB6C3C572AF1}" srcOrd="1" destOrd="0" parTransId="{BD2FFE38-90DA-4EE3-BE1A-8948E5B87BDA}" sibTransId="{C0EF580A-DDF3-40AB-94CB-7664831ADCED}"/>
    <dgm:cxn modelId="{402E3450-7448-49AE-94C1-AE78CF1B09A5}" srcId="{9FAA8C5A-4C69-44C8-A4A2-AB6C3C572AF1}" destId="{EE08F9E3-1187-4B53-A2CA-D823695E64E8}" srcOrd="0" destOrd="0" parTransId="{E1313CE4-2B79-402B-9FCF-8CC1C1710BB2}" sibTransId="{8901A4B8-BB58-41BB-A433-7D1F670AE119}"/>
    <dgm:cxn modelId="{15865C56-D8DD-4F2B-AB4C-BDF710927002}" srcId="{68E26D71-669B-4549-BCB2-066BF02D8EE5}" destId="{83800399-DBFE-41CF-B97D-FBB6AEA97F1B}" srcOrd="4" destOrd="0" parTransId="{3F3231B0-96F2-4E4D-8051-CF5D98169D54}" sibTransId="{77BD2A8E-C568-4751-AEB0-D400E9B3A6C5}"/>
    <dgm:cxn modelId="{FD93DD5F-61F5-4896-ACBE-A4146D292132}" srcId="{E7D95B66-F6E9-4ADF-8539-D9915FD737D9}" destId="{1408DC3D-993C-4690-A8C4-E69410837D25}" srcOrd="1" destOrd="0" parTransId="{CC6FAB10-F1DB-49C9-9DB5-B1DD93CF545F}" sibTransId="{B66EADC1-10C2-4054-996B-29354D01101D}"/>
    <dgm:cxn modelId="{CB3B2962-1E3F-7F4F-92DA-953824302860}" type="presOf" srcId="{8059E323-E391-42FC-9665-D64CDAA631AA}" destId="{6C2EAC15-D6A2-574B-94FE-7AFB549C0BE3}" srcOrd="0" destOrd="0" presId="urn:microsoft.com/office/officeart/2005/8/layout/hList1"/>
    <dgm:cxn modelId="{65A5F263-ECDE-3B41-B2E6-863CE212CC61}" type="presOf" srcId="{E7D95B66-F6E9-4ADF-8539-D9915FD737D9}" destId="{D343274B-9F2E-E743-80BA-9BB895FE9C87}" srcOrd="0" destOrd="0" presId="urn:microsoft.com/office/officeart/2005/8/layout/hList1"/>
    <dgm:cxn modelId="{3FD72A64-8E1F-4AC0-AA6F-D62B1D843926}" srcId="{0B481E88-6CD3-4A56-AB12-9A38DFD61EF8}" destId="{9420E302-0FB4-47BA-8053-534E15A1D330}" srcOrd="2" destOrd="0" parTransId="{8E5AF095-3F97-4146-BC30-C1466B4EDAB1}" sibTransId="{7782D6B4-8DEA-4A77-8F5A-5F7A3C532065}"/>
    <dgm:cxn modelId="{CA60EB69-BABF-4EDC-A90A-CC4263B4F6C3}" srcId="{83800399-DBFE-41CF-B97D-FBB6AEA97F1B}" destId="{D99DC5B8-0678-46EE-A121-C2230CA16E87}" srcOrd="1" destOrd="0" parTransId="{3513D875-747D-4D08-9B3D-45D2E6367384}" sibTransId="{7A493FC8-A990-4778-9F92-BD9AD0C6FDC8}"/>
    <dgm:cxn modelId="{34F1B46D-7E19-4BB8-849C-3817056E325C}" srcId="{0B481E88-6CD3-4A56-AB12-9A38DFD61EF8}" destId="{E8AC5B93-7ED4-42B9-B30B-BF360C06A385}" srcOrd="1" destOrd="0" parTransId="{C5606502-D58E-42A1-B439-D95CE8C89A00}" sibTransId="{E6478B14-C959-48D6-8664-ED6B10027CAD}"/>
    <dgm:cxn modelId="{BD511C6F-F08B-4BA9-A362-5E17AFB307C0}" srcId="{68E26D71-669B-4549-BCB2-066BF02D8EE5}" destId="{0B481E88-6CD3-4A56-AB12-9A38DFD61EF8}" srcOrd="0" destOrd="0" parTransId="{26FC5111-1CCE-439F-9212-194E2BCE6664}" sibTransId="{7A2BBE6A-6227-493F-BEA4-310848F55A7E}"/>
    <dgm:cxn modelId="{2430E57D-2ECA-BB43-A92A-129A861C5BA2}" type="presOf" srcId="{0FCAC6D9-C9D1-4667-B6D2-F2AEA0752324}" destId="{8716E1BB-7DDC-AE4A-ABFE-0043A6BFD317}" srcOrd="0" destOrd="0" presId="urn:microsoft.com/office/officeart/2005/8/layout/hList1"/>
    <dgm:cxn modelId="{54609386-8FC2-471F-87C0-0F7A080AB622}" srcId="{47A0F857-5728-4999-8443-2DD738D32D86}" destId="{128A79E9-FBAF-4FBD-B6A8-B9A2F393F5EB}" srcOrd="0" destOrd="0" parTransId="{3F945981-2D36-4AF5-B864-77FC6C69C7D5}" sibTransId="{33F04038-7E3F-46A9-ABEB-3508EA701BA2}"/>
    <dgm:cxn modelId="{95E80287-9EBC-FE4A-9182-F4B953D4E2F0}" type="presOf" srcId="{94CDCDF7-A0CD-EA4E-B039-F0E18EB96BD9}" destId="{CD119A9E-C687-F340-9090-8E54FE836FEC}" srcOrd="0" destOrd="3" presId="urn:microsoft.com/office/officeart/2005/8/layout/hList1"/>
    <dgm:cxn modelId="{F168E89E-D76D-D14B-95F9-74D10FC607CD}" type="presOf" srcId="{0580ABC3-FBC4-4EBF-973E-302F540D5190}" destId="{41145BAC-F341-6E41-BD69-62CD582CFB26}" srcOrd="0" destOrd="1" presId="urn:microsoft.com/office/officeart/2005/8/layout/hList1"/>
    <dgm:cxn modelId="{ACDA7CAD-654E-334D-8699-C0109FCDD10F}" srcId="{9FAA8C5A-4C69-44C8-A4A2-AB6C3C572AF1}" destId="{94CDCDF7-A0CD-EA4E-B039-F0E18EB96BD9}" srcOrd="3" destOrd="0" parTransId="{82D809DA-E90B-944C-A04E-E244232596D2}" sibTransId="{A4DED700-E3AD-6B49-9E50-EFC18E1C917E}"/>
    <dgm:cxn modelId="{E3595BAF-EDB9-D049-AA1A-88AF36CF8695}" type="presOf" srcId="{BC126AF0-2980-4BF5-9772-D1C62AFF9A81}" destId="{41145BAC-F341-6E41-BD69-62CD582CFB26}" srcOrd="0" destOrd="2" presId="urn:microsoft.com/office/officeart/2005/8/layout/hList1"/>
    <dgm:cxn modelId="{BF8EC0B0-B481-B145-8EF1-B3D21C4E6F8F}" type="presOf" srcId="{AD922C89-9CA2-104F-89A3-62697056BFDF}" destId="{CD119A9E-C687-F340-9090-8E54FE836FEC}" srcOrd="0" destOrd="2" presId="urn:microsoft.com/office/officeart/2005/8/layout/hList1"/>
    <dgm:cxn modelId="{4C26E2B0-ED28-6749-B9E3-9B2B1B88B2C0}" type="presOf" srcId="{83800399-DBFE-41CF-B97D-FBB6AEA97F1B}" destId="{39CC363B-AA8C-724E-998C-4B10C5171E21}" srcOrd="0" destOrd="0" presId="urn:microsoft.com/office/officeart/2005/8/layout/hList1"/>
    <dgm:cxn modelId="{874367BA-989E-634E-AEE4-D05962777109}" type="presOf" srcId="{9420E302-0FB4-47BA-8053-534E15A1D330}" destId="{6C2EAC15-D6A2-574B-94FE-7AFB549C0BE3}" srcOrd="0" destOrd="2" presId="urn:microsoft.com/office/officeart/2005/8/layout/hList1"/>
    <dgm:cxn modelId="{A1231DBE-F586-324C-92C6-CA89EC156472}" type="presOf" srcId="{DEF10069-C53C-4108-9C05-F8EF5BAAF817}" destId="{CD119A9E-C687-F340-9090-8E54FE836FEC}" srcOrd="0" destOrd="1" presId="urn:microsoft.com/office/officeart/2005/8/layout/hList1"/>
    <dgm:cxn modelId="{7B2131BE-290F-421A-889F-1A844260499E}" srcId="{47A0F857-5728-4999-8443-2DD738D32D86}" destId="{BC126AF0-2980-4BF5-9772-D1C62AFF9A81}" srcOrd="2" destOrd="0" parTransId="{879060F2-0533-4E73-98C2-D9A2F559A377}" sibTransId="{599F1376-86A5-48B5-A82A-4F925809AB63}"/>
    <dgm:cxn modelId="{A01FDDC1-3BD1-A647-9470-BB0B6687DAEE}" type="presOf" srcId="{E8AC5B93-7ED4-42B9-B30B-BF360C06A385}" destId="{6C2EAC15-D6A2-574B-94FE-7AFB549C0BE3}" srcOrd="0" destOrd="1" presId="urn:microsoft.com/office/officeart/2005/8/layout/hList1"/>
    <dgm:cxn modelId="{8024BEC3-749A-2F46-BAD4-1353B552411E}" type="presOf" srcId="{D99DC5B8-0678-46EE-A121-C2230CA16E87}" destId="{8716E1BB-7DDC-AE4A-ABFE-0043A6BFD317}" srcOrd="0" destOrd="1" presId="urn:microsoft.com/office/officeart/2005/8/layout/hList1"/>
    <dgm:cxn modelId="{595D4BC5-7D04-4D74-A7CD-E6436332E418}" srcId="{68E26D71-669B-4549-BCB2-066BF02D8EE5}" destId="{E7D95B66-F6E9-4ADF-8539-D9915FD737D9}" srcOrd="3" destOrd="0" parTransId="{17E15812-EAF1-4485-9E6A-96F7458BA3FA}" sibTransId="{421A1ABA-C0EB-4996-BB22-B475543A3F13}"/>
    <dgm:cxn modelId="{574C86D6-28AB-184E-ABE3-C2A71957C2D5}" type="presOf" srcId="{128A79E9-FBAF-4FBD-B6A8-B9A2F393F5EB}" destId="{41145BAC-F341-6E41-BD69-62CD582CFB26}" srcOrd="0" destOrd="0" presId="urn:microsoft.com/office/officeart/2005/8/layout/hList1"/>
    <dgm:cxn modelId="{220CC2D7-53FE-2640-8E7D-4B03C638A1B4}" type="presOf" srcId="{0B481E88-6CD3-4A56-AB12-9A38DFD61EF8}" destId="{F9489CC3-55E9-044C-A0E2-76FC04AE094F}" srcOrd="0" destOrd="0" presId="urn:microsoft.com/office/officeart/2005/8/layout/hList1"/>
    <dgm:cxn modelId="{98805DDF-8C33-B54E-BBF5-D90D001E251E}" type="presOf" srcId="{EE08F9E3-1187-4B53-A2CA-D823695E64E8}" destId="{CD119A9E-C687-F340-9090-8E54FE836FEC}" srcOrd="0" destOrd="0" presId="urn:microsoft.com/office/officeart/2005/8/layout/hList1"/>
    <dgm:cxn modelId="{F5CA36F2-4AB9-994B-BD2C-05A538A19559}" type="presOf" srcId="{61FDBB0E-4F95-465B-B36F-3BEE5F391AEF}" destId="{4AC036A3-077D-874D-AB93-48A5DD6501FE}" srcOrd="0" destOrd="0" presId="urn:microsoft.com/office/officeart/2005/8/layout/hList1"/>
    <dgm:cxn modelId="{0C277A93-2B23-8948-89CF-BB85D2D99385}" type="presParOf" srcId="{75F9BEBA-7A5C-C94F-A2AF-5CB07EF3C64F}" destId="{B2AF0337-295F-9740-B146-DEA922DF0DCF}" srcOrd="0" destOrd="0" presId="urn:microsoft.com/office/officeart/2005/8/layout/hList1"/>
    <dgm:cxn modelId="{FBBA4F59-052C-BE4E-B240-4CB29F2ECAA8}" type="presParOf" srcId="{B2AF0337-295F-9740-B146-DEA922DF0DCF}" destId="{F9489CC3-55E9-044C-A0E2-76FC04AE094F}" srcOrd="0" destOrd="0" presId="urn:microsoft.com/office/officeart/2005/8/layout/hList1"/>
    <dgm:cxn modelId="{5E19038C-4592-5840-A6EF-7918B66D08B9}" type="presParOf" srcId="{B2AF0337-295F-9740-B146-DEA922DF0DCF}" destId="{6C2EAC15-D6A2-574B-94FE-7AFB549C0BE3}" srcOrd="1" destOrd="0" presId="urn:microsoft.com/office/officeart/2005/8/layout/hList1"/>
    <dgm:cxn modelId="{1F30F09C-E352-CF4E-9E30-A4D4D6DED20F}" type="presParOf" srcId="{75F9BEBA-7A5C-C94F-A2AF-5CB07EF3C64F}" destId="{6D513513-9CEB-7F4F-A5F5-C3DE62165FF5}" srcOrd="1" destOrd="0" presId="urn:microsoft.com/office/officeart/2005/8/layout/hList1"/>
    <dgm:cxn modelId="{C31A96F4-F2EE-B34E-882C-5A213391E550}" type="presParOf" srcId="{75F9BEBA-7A5C-C94F-A2AF-5CB07EF3C64F}" destId="{89AEBF2C-0249-5243-9317-162C51E122ED}" srcOrd="2" destOrd="0" presId="urn:microsoft.com/office/officeart/2005/8/layout/hList1"/>
    <dgm:cxn modelId="{8489FB42-0E26-5147-9109-48D5BA0EDC63}" type="presParOf" srcId="{89AEBF2C-0249-5243-9317-162C51E122ED}" destId="{445F6926-1C31-7E4D-8D4A-83DB974BA56D}" srcOrd="0" destOrd="0" presId="urn:microsoft.com/office/officeart/2005/8/layout/hList1"/>
    <dgm:cxn modelId="{5CE78D15-FCE0-EA40-B133-519AE6908D17}" type="presParOf" srcId="{89AEBF2C-0249-5243-9317-162C51E122ED}" destId="{CD119A9E-C687-F340-9090-8E54FE836FEC}" srcOrd="1" destOrd="0" presId="urn:microsoft.com/office/officeart/2005/8/layout/hList1"/>
    <dgm:cxn modelId="{A01F3BC9-7E79-D544-B41E-1E83583C3CFB}" type="presParOf" srcId="{75F9BEBA-7A5C-C94F-A2AF-5CB07EF3C64F}" destId="{707B2F46-BD02-6A4A-AE83-760F18696755}" srcOrd="3" destOrd="0" presId="urn:microsoft.com/office/officeart/2005/8/layout/hList1"/>
    <dgm:cxn modelId="{C0648470-EE69-F74D-B807-AFD5A802D326}" type="presParOf" srcId="{75F9BEBA-7A5C-C94F-A2AF-5CB07EF3C64F}" destId="{FA74E9D1-7C76-F44B-B1DC-7EA6BD91D524}" srcOrd="4" destOrd="0" presId="urn:microsoft.com/office/officeart/2005/8/layout/hList1"/>
    <dgm:cxn modelId="{93DD9C3C-0D5A-1B45-A85D-03D9E6271E16}" type="presParOf" srcId="{FA74E9D1-7C76-F44B-B1DC-7EA6BD91D524}" destId="{39AEA6CA-6B6B-AA4E-AD14-FABEA630B54F}" srcOrd="0" destOrd="0" presId="urn:microsoft.com/office/officeart/2005/8/layout/hList1"/>
    <dgm:cxn modelId="{ACC8AD42-D015-E24A-8F1F-3D59D8CDE90C}" type="presParOf" srcId="{FA74E9D1-7C76-F44B-B1DC-7EA6BD91D524}" destId="{41145BAC-F341-6E41-BD69-62CD582CFB26}" srcOrd="1" destOrd="0" presId="urn:microsoft.com/office/officeart/2005/8/layout/hList1"/>
    <dgm:cxn modelId="{4A16D8A6-E87C-034C-BB4E-AB30EA9658E7}" type="presParOf" srcId="{75F9BEBA-7A5C-C94F-A2AF-5CB07EF3C64F}" destId="{D76B90B9-070E-4241-B1BF-F38B347E69DF}" srcOrd="5" destOrd="0" presId="urn:microsoft.com/office/officeart/2005/8/layout/hList1"/>
    <dgm:cxn modelId="{40AF5AF5-AE71-CC47-89FB-B00345DA290C}" type="presParOf" srcId="{75F9BEBA-7A5C-C94F-A2AF-5CB07EF3C64F}" destId="{20D0F5C6-6D8B-9849-B078-33AB33F5C1BE}" srcOrd="6" destOrd="0" presId="urn:microsoft.com/office/officeart/2005/8/layout/hList1"/>
    <dgm:cxn modelId="{26E4BCDB-C6B2-BC43-AD7A-275FE84ECFE7}" type="presParOf" srcId="{20D0F5C6-6D8B-9849-B078-33AB33F5C1BE}" destId="{D343274B-9F2E-E743-80BA-9BB895FE9C87}" srcOrd="0" destOrd="0" presId="urn:microsoft.com/office/officeart/2005/8/layout/hList1"/>
    <dgm:cxn modelId="{F828641A-2629-B742-917D-4DCDE0C31448}" type="presParOf" srcId="{20D0F5C6-6D8B-9849-B078-33AB33F5C1BE}" destId="{4AC036A3-077D-874D-AB93-48A5DD6501FE}" srcOrd="1" destOrd="0" presId="urn:microsoft.com/office/officeart/2005/8/layout/hList1"/>
    <dgm:cxn modelId="{BE4E6955-9AAA-8044-B4A2-F15B4DF6E749}" type="presParOf" srcId="{75F9BEBA-7A5C-C94F-A2AF-5CB07EF3C64F}" destId="{DF8AC1A2-95E4-AA49-B422-88A8ED68D7DF}" srcOrd="7" destOrd="0" presId="urn:microsoft.com/office/officeart/2005/8/layout/hList1"/>
    <dgm:cxn modelId="{5017D797-CAAB-9841-8602-D97CC69EFCDF}" type="presParOf" srcId="{75F9BEBA-7A5C-C94F-A2AF-5CB07EF3C64F}" destId="{93936558-54CA-3548-A388-E8078E519D3D}" srcOrd="8" destOrd="0" presId="urn:microsoft.com/office/officeart/2005/8/layout/hList1"/>
    <dgm:cxn modelId="{83C62DEA-62BD-934C-A6E8-44F32D80018A}" type="presParOf" srcId="{93936558-54CA-3548-A388-E8078E519D3D}" destId="{39CC363B-AA8C-724E-998C-4B10C5171E21}" srcOrd="0" destOrd="0" presId="urn:microsoft.com/office/officeart/2005/8/layout/hList1"/>
    <dgm:cxn modelId="{3693BFDF-6BD6-2845-BF1C-97B27962D5B6}" type="presParOf" srcId="{93936558-54CA-3548-A388-E8078E519D3D}" destId="{8716E1BB-7DDC-AE4A-ABFE-0043A6BFD31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489CC3-55E9-044C-A0E2-76FC04AE094F}">
      <dsp:nvSpPr>
        <dsp:cNvPr id="0" name=""/>
        <dsp:cNvSpPr/>
      </dsp:nvSpPr>
      <dsp:spPr>
        <a:xfrm>
          <a:off x="5143" y="382355"/>
          <a:ext cx="1971675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baseline="0"/>
            <a:t>Event Grid</a:t>
          </a:r>
          <a:endParaRPr lang="en-US" sz="1900" kern="1200"/>
        </a:p>
      </dsp:txBody>
      <dsp:txXfrm>
        <a:off x="5143" y="382355"/>
        <a:ext cx="1971675" cy="547200"/>
      </dsp:txXfrm>
    </dsp:sp>
    <dsp:sp modelId="{6C2EAC15-D6A2-574B-94FE-7AFB549C0BE3}">
      <dsp:nvSpPr>
        <dsp:cNvPr id="0" name=""/>
        <dsp:cNvSpPr/>
      </dsp:nvSpPr>
      <dsp:spPr>
        <a:xfrm>
          <a:off x="5143" y="929555"/>
          <a:ext cx="1971675" cy="321405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900" kern="1200" baseline="0"/>
            <a:t>Event-routing service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900" kern="1200" baseline="0" dirty="0"/>
            <a:t>Publisher + </a:t>
          </a:r>
          <a:r>
            <a:rPr lang="cs-CZ" sz="1900" kern="1200" baseline="0" dirty="0" err="1"/>
            <a:t>subscriber</a:t>
          </a:r>
          <a:r>
            <a:rPr lang="cs-CZ" sz="1900" kern="1200" baseline="0" dirty="0"/>
            <a:t> model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900" kern="1200" baseline="0" dirty="0" err="1"/>
            <a:t>Can</a:t>
          </a:r>
          <a:r>
            <a:rPr lang="cs-CZ" sz="1900" kern="1200" baseline="0" dirty="0"/>
            <a:t> </a:t>
          </a:r>
          <a:r>
            <a:rPr lang="cs-CZ" sz="1900" kern="1200" baseline="0" dirty="0" err="1"/>
            <a:t>subscribe</a:t>
          </a:r>
          <a:r>
            <a:rPr lang="cs-CZ" sz="1900" kern="1200" baseline="0" dirty="0"/>
            <a:t> to </a:t>
          </a:r>
          <a:r>
            <a:rPr lang="cs-CZ" sz="1900" kern="1200" baseline="0" dirty="0" err="1"/>
            <a:t>events</a:t>
          </a:r>
          <a:r>
            <a:rPr lang="cs-CZ" sz="1900" kern="1200" baseline="0" dirty="0"/>
            <a:t> </a:t>
          </a:r>
          <a:r>
            <a:rPr lang="cs-CZ" sz="1900" kern="1200" baseline="0" dirty="0" err="1"/>
            <a:t>created</a:t>
          </a:r>
          <a:r>
            <a:rPr lang="cs-CZ" sz="1900" kern="1200" baseline="0" dirty="0"/>
            <a:t> in Azure (</a:t>
          </a:r>
          <a:r>
            <a:rPr lang="cs-CZ" sz="1900" kern="1200" baseline="0" dirty="0" err="1"/>
            <a:t>scaling</a:t>
          </a:r>
          <a:r>
            <a:rPr lang="cs-CZ" sz="1900" kern="1200" baseline="0" dirty="0"/>
            <a:t> …) </a:t>
          </a:r>
          <a:endParaRPr lang="en-US" sz="1900" kern="1200" dirty="0"/>
        </a:p>
      </dsp:txBody>
      <dsp:txXfrm>
        <a:off x="5143" y="929555"/>
        <a:ext cx="1971675" cy="3214051"/>
      </dsp:txXfrm>
    </dsp:sp>
    <dsp:sp modelId="{445F6926-1C31-7E4D-8D4A-83DB974BA56D}">
      <dsp:nvSpPr>
        <dsp:cNvPr id="0" name=""/>
        <dsp:cNvSpPr/>
      </dsp:nvSpPr>
      <dsp:spPr>
        <a:xfrm>
          <a:off x="2252852" y="382355"/>
          <a:ext cx="1971675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Event Hub</a:t>
          </a:r>
          <a:endParaRPr lang="en-US" sz="1900" kern="1200"/>
        </a:p>
      </dsp:txBody>
      <dsp:txXfrm>
        <a:off x="2252852" y="382355"/>
        <a:ext cx="1971675" cy="547200"/>
      </dsp:txXfrm>
    </dsp:sp>
    <dsp:sp modelId="{CD119A9E-C687-F340-9090-8E54FE836FEC}">
      <dsp:nvSpPr>
        <dsp:cNvPr id="0" name=""/>
        <dsp:cNvSpPr/>
      </dsp:nvSpPr>
      <dsp:spPr>
        <a:xfrm>
          <a:off x="2252852" y="929555"/>
          <a:ext cx="1971675" cy="321405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baseline="0"/>
            <a:t>Telemetry-events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baseline="0" dirty="0"/>
            <a:t>Pull model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Millions events per second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Persisted data</a:t>
          </a:r>
        </a:p>
      </dsp:txBody>
      <dsp:txXfrm>
        <a:off x="2252852" y="929555"/>
        <a:ext cx="1971675" cy="3214051"/>
      </dsp:txXfrm>
    </dsp:sp>
    <dsp:sp modelId="{39AEA6CA-6B6B-AA4E-AD14-FABEA630B54F}">
      <dsp:nvSpPr>
        <dsp:cNvPr id="0" name=""/>
        <dsp:cNvSpPr/>
      </dsp:nvSpPr>
      <dsp:spPr>
        <a:xfrm>
          <a:off x="4500562" y="382355"/>
          <a:ext cx="1971675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Service bus</a:t>
          </a:r>
          <a:endParaRPr lang="en-US" sz="1900" kern="1200"/>
        </a:p>
      </dsp:txBody>
      <dsp:txXfrm>
        <a:off x="4500562" y="382355"/>
        <a:ext cx="1971675" cy="547200"/>
      </dsp:txXfrm>
    </dsp:sp>
    <dsp:sp modelId="{41145BAC-F341-6E41-BD69-62CD582CFB26}">
      <dsp:nvSpPr>
        <dsp:cNvPr id="0" name=""/>
        <dsp:cNvSpPr/>
      </dsp:nvSpPr>
      <dsp:spPr>
        <a:xfrm>
          <a:off x="4500562" y="929555"/>
          <a:ext cx="1971675" cy="321405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baseline="0"/>
            <a:t>Enterprise message broker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baseline="0"/>
            <a:t>Point – to – point, pub / sub, request – response 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baseline="0"/>
            <a:t>Reliable and secure</a:t>
          </a:r>
          <a:endParaRPr lang="en-US" sz="1900" kern="1200"/>
        </a:p>
      </dsp:txBody>
      <dsp:txXfrm>
        <a:off x="4500562" y="929555"/>
        <a:ext cx="1971675" cy="3214051"/>
      </dsp:txXfrm>
    </dsp:sp>
    <dsp:sp modelId="{D343274B-9F2E-E743-80BA-9BB895FE9C87}">
      <dsp:nvSpPr>
        <dsp:cNvPr id="0" name=""/>
        <dsp:cNvSpPr/>
      </dsp:nvSpPr>
      <dsp:spPr>
        <a:xfrm>
          <a:off x="6748272" y="382355"/>
          <a:ext cx="1971675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baseline="0"/>
            <a:t>Functions</a:t>
          </a:r>
          <a:endParaRPr lang="en-US" sz="1900" kern="1200"/>
        </a:p>
      </dsp:txBody>
      <dsp:txXfrm>
        <a:off x="6748272" y="382355"/>
        <a:ext cx="1971675" cy="547200"/>
      </dsp:txXfrm>
    </dsp:sp>
    <dsp:sp modelId="{4AC036A3-077D-874D-AB93-48A5DD6501FE}">
      <dsp:nvSpPr>
        <dsp:cNvPr id="0" name=""/>
        <dsp:cNvSpPr/>
      </dsp:nvSpPr>
      <dsp:spPr>
        <a:xfrm>
          <a:off x="6748272" y="929555"/>
          <a:ext cx="1971675" cy="321405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900" kern="1200" baseline="0"/>
            <a:t>Execute your code based on events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900" kern="1200" baseline="0"/>
            <a:t>Languages: C#, JavaScript, Python, Java</a:t>
          </a:r>
          <a:r>
            <a:rPr lang="en-US" sz="1900" kern="1200" baseline="0"/>
            <a:t>, Powershell, TypeScript, Go/Rust/other </a:t>
          </a:r>
          <a:r>
            <a:rPr lang="cs-CZ" sz="1900" kern="1200" baseline="0"/>
            <a:t>(</a:t>
          </a:r>
          <a:r>
            <a:rPr lang="en-US" sz="1900" kern="1200" baseline="0"/>
            <a:t>with custom handlers)</a:t>
          </a:r>
          <a:endParaRPr lang="en-US" sz="1900" kern="1200"/>
        </a:p>
      </dsp:txBody>
      <dsp:txXfrm>
        <a:off x="6748272" y="929555"/>
        <a:ext cx="1971675" cy="3214051"/>
      </dsp:txXfrm>
    </dsp:sp>
    <dsp:sp modelId="{39CC363B-AA8C-724E-998C-4B10C5171E21}">
      <dsp:nvSpPr>
        <dsp:cNvPr id="0" name=""/>
        <dsp:cNvSpPr/>
      </dsp:nvSpPr>
      <dsp:spPr>
        <a:xfrm>
          <a:off x="8995981" y="382355"/>
          <a:ext cx="1971675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baseline="0"/>
            <a:t>Logic Apps</a:t>
          </a:r>
          <a:endParaRPr lang="en-US" sz="1900" kern="1200"/>
        </a:p>
      </dsp:txBody>
      <dsp:txXfrm>
        <a:off x="8995981" y="382355"/>
        <a:ext cx="1971675" cy="547200"/>
      </dsp:txXfrm>
    </dsp:sp>
    <dsp:sp modelId="{8716E1BB-7DDC-AE4A-ABFE-0043A6BFD317}">
      <dsp:nvSpPr>
        <dsp:cNvPr id="0" name=""/>
        <dsp:cNvSpPr/>
      </dsp:nvSpPr>
      <dsp:spPr>
        <a:xfrm>
          <a:off x="8995981" y="929555"/>
          <a:ext cx="1971675" cy="321405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baseline="0"/>
            <a:t>“No code”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900" kern="1200" baseline="0"/>
            <a:t>Design workflows and orchestrate processes</a:t>
          </a:r>
          <a:endParaRPr lang="en-US" sz="1900" kern="1200"/>
        </a:p>
      </dsp:txBody>
      <dsp:txXfrm>
        <a:off x="8995981" y="929555"/>
        <a:ext cx="1971675" cy="32140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C3DD1-6B4C-423E-A696-BD4124EC33BC}" type="datetimeFigureOut">
              <a:rPr lang="cs-CZ" smtClean="0"/>
              <a:pPr/>
              <a:t>02.04.2026</a:t>
            </a:fld>
            <a:endParaRPr lang="cs-C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6764F6-20DF-4459-862B-64827B1A3974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98811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„Serverless“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neznamená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bez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bez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správy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abstrakci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infrastruktury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vývojář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neřeší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VM, OS, provisioning, patching ani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škálování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“Event driven”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spuštění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funkce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proběhne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reakce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událost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HTTP request,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zpráva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změna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databázi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timer.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“Instant scale”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provádí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automatické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často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zero‑to‑infinite scaling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Microservices –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desítky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funkcí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Nanoservices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funkce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dělá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věc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Důležitý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koncept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funkce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být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bezstavová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ukládá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služeb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(DB, blob storage, message queue).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Umožňuje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masivní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paralelizaci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764F6-20DF-4459-862B-64827B1A3974}" type="slidenum">
              <a:rPr lang="cs-CZ" smtClean="0"/>
              <a:pPr/>
              <a:t>2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39453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On-Premises / Data-</a:t>
            </a:r>
            <a:r>
              <a:rPr lang="en-US" dirty="0" err="1"/>
              <a:t>centr</a:t>
            </a:r>
            <a:r>
              <a:rPr lang="cs-CZ" dirty="0"/>
              <a:t>e</a:t>
            </a:r>
            <a:endParaRPr lang="en-US" dirty="0"/>
          </a:p>
          <a:p>
            <a:pPr lvl="1"/>
            <a:r>
              <a:rPr lang="en-US" dirty="0"/>
              <a:t>Hardwar</a:t>
            </a:r>
            <a:r>
              <a:rPr lang="cs-CZ" dirty="0"/>
              <a:t>e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unit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scale</a:t>
            </a:r>
            <a:endParaRPr lang="en-US" dirty="0"/>
          </a:p>
          <a:p>
            <a:pPr lvl="1"/>
            <a:r>
              <a:rPr lang="en-US" dirty="0"/>
              <a:t>Abstracts the physical hosting environment</a:t>
            </a:r>
          </a:p>
          <a:p>
            <a:r>
              <a:rPr lang="en-US" dirty="0"/>
              <a:t>IaaS</a:t>
            </a:r>
            <a:endParaRPr lang="cs-CZ" dirty="0"/>
          </a:p>
          <a:p>
            <a:pPr lvl="1"/>
            <a:r>
              <a:rPr lang="cs-CZ" dirty="0" err="1"/>
              <a:t>Operating</a:t>
            </a:r>
            <a:r>
              <a:rPr lang="cs-CZ" dirty="0"/>
              <a:t> </a:t>
            </a:r>
            <a:r>
              <a:rPr lang="en-US" dirty="0"/>
              <a:t>system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unit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scale</a:t>
            </a:r>
            <a:endParaRPr lang="cs-CZ" dirty="0"/>
          </a:p>
          <a:p>
            <a:pPr lvl="1"/>
            <a:r>
              <a:rPr lang="cs-CZ" dirty="0" err="1"/>
              <a:t>Abstracts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hardware</a:t>
            </a:r>
            <a:endParaRPr lang="en-US" dirty="0"/>
          </a:p>
          <a:p>
            <a:r>
              <a:rPr lang="en-US" dirty="0"/>
              <a:t>PaaS</a:t>
            </a:r>
            <a:endParaRPr lang="cs-CZ" dirty="0"/>
          </a:p>
          <a:p>
            <a:pPr lvl="1"/>
            <a:r>
              <a:rPr lang="cs-CZ" dirty="0" err="1"/>
              <a:t>Application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unit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scale</a:t>
            </a:r>
            <a:endParaRPr lang="cs-CZ" dirty="0"/>
          </a:p>
          <a:p>
            <a:pPr lvl="1"/>
            <a:r>
              <a:rPr lang="cs-CZ" dirty="0" err="1"/>
              <a:t>Abstracts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Operating</a:t>
            </a:r>
            <a:r>
              <a:rPr lang="cs-CZ" dirty="0"/>
              <a:t> </a:t>
            </a:r>
            <a:r>
              <a:rPr lang="cs-CZ" dirty="0" err="1"/>
              <a:t>Syst</a:t>
            </a:r>
            <a:r>
              <a:rPr lang="en-US" dirty="0"/>
              <a:t>e</a:t>
            </a:r>
            <a:r>
              <a:rPr lang="cs-CZ" dirty="0"/>
              <a:t>m</a:t>
            </a:r>
            <a:endParaRPr lang="en-US" dirty="0"/>
          </a:p>
          <a:p>
            <a:r>
              <a:rPr lang="en-US" dirty="0"/>
              <a:t>SaaS</a:t>
            </a:r>
          </a:p>
          <a:p>
            <a:pPr lvl="1"/>
            <a:r>
              <a:rPr lang="en-US" dirty="0"/>
              <a:t>Cloud-hosted application ready-to-use</a:t>
            </a:r>
          </a:p>
          <a:p>
            <a:r>
              <a:rPr lang="en-US" dirty="0"/>
              <a:t>Serverless</a:t>
            </a:r>
            <a:endParaRPr lang="cs-CZ" dirty="0"/>
          </a:p>
          <a:p>
            <a:pPr lvl="1"/>
            <a:r>
              <a:rPr lang="cs-CZ" dirty="0" err="1"/>
              <a:t>Function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unit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scale</a:t>
            </a:r>
            <a:endParaRPr lang="cs-CZ" dirty="0"/>
          </a:p>
          <a:p>
            <a:pPr lvl="1"/>
            <a:r>
              <a:rPr lang="cs-CZ" dirty="0" err="1"/>
              <a:t>Abstracts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language</a:t>
            </a:r>
            <a:r>
              <a:rPr lang="cs-CZ" dirty="0"/>
              <a:t> runtime</a:t>
            </a:r>
            <a:endParaRPr lang="en-US" dirty="0"/>
          </a:p>
          <a:p>
            <a:pPr lvl="1"/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764F6-20DF-4459-862B-64827B1A3974}" type="slidenum">
              <a:rPr lang="cs-CZ" smtClean="0"/>
              <a:pPr/>
              <a:t>3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00119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cs-CZ" b="1" i="0" dirty="0">
                <a:effectLst/>
                <a:latin typeface="Söhne"/>
              </a:rPr>
              <a:t>Azure Event </a:t>
            </a:r>
            <a:r>
              <a:rPr lang="cs-CZ" b="1" i="0" dirty="0" err="1">
                <a:effectLst/>
                <a:latin typeface="Söhne"/>
              </a:rPr>
              <a:t>Grid</a:t>
            </a:r>
            <a:r>
              <a:rPr lang="cs-CZ" b="0" i="0" dirty="0"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cs-CZ" b="0" i="0" dirty="0">
                <a:effectLst/>
                <a:latin typeface="Söhne"/>
              </a:rPr>
              <a:t>Azure Event </a:t>
            </a:r>
            <a:r>
              <a:rPr lang="cs-CZ" b="0" i="0" dirty="0" err="1">
                <a:effectLst/>
                <a:latin typeface="Söhne"/>
              </a:rPr>
              <a:t>Grid</a:t>
            </a:r>
            <a:r>
              <a:rPr lang="cs-CZ" b="0" i="0" dirty="0">
                <a:effectLst/>
                <a:latin typeface="Söhne"/>
              </a:rPr>
              <a:t> je služba určená pro správu a směrování událostí v rámci Azure.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cs-CZ" b="0" i="0" dirty="0">
                <a:effectLst/>
                <a:latin typeface="Söhne"/>
              </a:rPr>
              <a:t>Je navržena tak, aby umožňovala jednoduché nasazení publikace-odběru událostí, kde se události z různých služeb Azure (nebo vlastních aplikací) publikují a odběratelé se přihlašují k odběru konkrétních událostí nebo typů událostí.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cs-CZ" b="0" i="0" dirty="0">
                <a:effectLst/>
                <a:latin typeface="Söhne"/>
              </a:rPr>
              <a:t>Je vhodná pro scénáře, kde potřebujete reagovat na události z různých zdrojů v rámci Azure a provádět řízení toku událostí, například pro spouštění automatizovaných reakcí na události.</a:t>
            </a:r>
          </a:p>
          <a:p>
            <a:pPr algn="l">
              <a:buFont typeface="+mj-lt"/>
              <a:buAutoNum type="arabicPeriod"/>
            </a:pPr>
            <a:r>
              <a:rPr lang="cs-CZ" b="1" i="0" dirty="0">
                <a:effectLst/>
                <a:latin typeface="Söhne"/>
              </a:rPr>
              <a:t>Azure Event Hub</a:t>
            </a:r>
            <a:r>
              <a:rPr lang="cs-CZ" b="0" i="0" dirty="0"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cs-CZ" b="0" i="0" dirty="0">
                <a:effectLst/>
                <a:latin typeface="Söhne"/>
              </a:rPr>
              <a:t>Azure Event Hub je plně řízená služba pro zpracování a ukládání velkého objemu událostí a dat v reálném čase.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cs-CZ" b="0" i="0" dirty="0">
                <a:effectLst/>
                <a:latin typeface="Söhne"/>
              </a:rPr>
              <a:t>Je optimalizována pro zpracování velkého počtu událostí (např. </a:t>
            </a:r>
            <a:r>
              <a:rPr lang="cs-CZ" b="0" i="0" dirty="0" err="1">
                <a:effectLst/>
                <a:latin typeface="Söhne"/>
              </a:rPr>
              <a:t>IoT</a:t>
            </a:r>
            <a:r>
              <a:rPr lang="cs-CZ" b="0" i="0" dirty="0">
                <a:effectLst/>
                <a:latin typeface="Söhne"/>
              </a:rPr>
              <a:t> senzorová data, logy aplikací, telemetrie) s vysokou propustností a nízkou latencí.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cs-CZ" b="0" i="0" dirty="0">
                <a:effectLst/>
                <a:latin typeface="Söhne"/>
              </a:rPr>
              <a:t>Poskytuje možnosti ukládání, zpracování a analýzy dat v reálném čase a integruje se s různými analytickými nástroji a úložišti dat v Azure (např. Azure Stream </a:t>
            </a:r>
            <a:r>
              <a:rPr lang="cs-CZ" b="0" i="0" dirty="0" err="1">
                <a:effectLst/>
                <a:latin typeface="Söhne"/>
              </a:rPr>
              <a:t>Analytics</a:t>
            </a:r>
            <a:r>
              <a:rPr lang="cs-CZ" b="0" i="0" dirty="0">
                <a:effectLst/>
                <a:latin typeface="Söhne"/>
              </a:rPr>
              <a:t>, Azure </a:t>
            </a:r>
            <a:r>
              <a:rPr lang="cs-CZ" b="0" i="0" dirty="0" err="1">
                <a:effectLst/>
                <a:latin typeface="Söhne"/>
              </a:rPr>
              <a:t>Functions</a:t>
            </a:r>
            <a:r>
              <a:rPr lang="cs-CZ" b="0" i="0" dirty="0">
                <a:effectLst/>
                <a:latin typeface="Söhne"/>
              </a:rPr>
              <a:t>, Azure </a:t>
            </a:r>
            <a:r>
              <a:rPr lang="cs-CZ" b="0" i="0" dirty="0" err="1">
                <a:effectLst/>
                <a:latin typeface="Söhne"/>
              </a:rPr>
              <a:t>Blob</a:t>
            </a:r>
            <a:r>
              <a:rPr lang="cs-CZ" b="0" i="0" dirty="0">
                <a:effectLst/>
                <a:latin typeface="Söhne"/>
              </a:rPr>
              <a:t> </a:t>
            </a:r>
            <a:r>
              <a:rPr lang="cs-CZ" b="0" i="0" dirty="0" err="1">
                <a:effectLst/>
                <a:latin typeface="Söhne"/>
              </a:rPr>
              <a:t>Storage</a:t>
            </a:r>
            <a:r>
              <a:rPr lang="cs-CZ" b="0" i="0" dirty="0">
                <a:effectLst/>
                <a:latin typeface="Söhne"/>
              </a:rPr>
              <a:t>).</a:t>
            </a:r>
          </a:p>
          <a:p>
            <a:pPr algn="l"/>
            <a:r>
              <a:rPr lang="cs-CZ" b="0" i="0" dirty="0">
                <a:effectLst/>
                <a:latin typeface="Söhne"/>
              </a:rPr>
              <a:t>Hlavní rozdíl spočívá tedy v tom, že Azure Event </a:t>
            </a:r>
            <a:r>
              <a:rPr lang="cs-CZ" b="0" i="0" dirty="0" err="1">
                <a:effectLst/>
                <a:latin typeface="Söhne"/>
              </a:rPr>
              <a:t>Grid</a:t>
            </a:r>
            <a:r>
              <a:rPr lang="cs-CZ" b="0" i="0" dirty="0">
                <a:effectLst/>
                <a:latin typeface="Söhne"/>
              </a:rPr>
              <a:t> je zaměřen na směrování a správu událostí mezi různými službami Azure a aplikacemi, zatímco Azure Event Hub je navržen pro příjem, ukládání a zpracování velkého objemu událostí v reálném čase, především pro analytické a zpracovatelské účely.</a:t>
            </a:r>
          </a:p>
          <a:p>
            <a:br>
              <a:rPr lang="cs-CZ" b="0" i="0" dirty="0">
                <a:solidFill>
                  <a:srgbClr val="FFFFFF"/>
                </a:solidFill>
                <a:effectLst/>
                <a:latin typeface="Söhne"/>
              </a:rPr>
            </a:b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764F6-20DF-4459-862B-64827B1A3974}" type="slidenum">
              <a:rPr lang="cs-CZ" smtClean="0"/>
              <a:pPr/>
              <a:t>8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34487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1)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Zákazník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odešle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e-mail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Zákazník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vlevo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pošle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e-mail 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požadavkem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např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„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objednat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ubytování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e-mail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vstupní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událost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celého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2) Email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zpracuje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Mail Processor Logic App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 App: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načte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mailu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extrahuje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potřebná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jméno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zákazníka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služby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datum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návštěvy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…)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připraví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strukturovaný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event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Výsledek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odešle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 Grid event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3) Event Grid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distribuuje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událost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dalším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službám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 Grid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funguje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centrální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event router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jedné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události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vzniknou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tři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odlišné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reakce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4)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Větev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–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Vytvoření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zákazníka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 CRM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Logic App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 Customer 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vytvoří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zákazníka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Dynamics 365 CRM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vytvoří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CustomerID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pošle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zpět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 Created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event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5)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Větev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–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Naplánování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schůzky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(Appointment)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 App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 Appointment 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počká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 Created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event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vezme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CustomerID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zapíše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záznam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schůzce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Tato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větev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reprezentuje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orchestraci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založenou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závislostech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mezi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událostmi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6)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Větev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–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Generování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faktury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 App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Invoice Generation 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získá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detail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zákazníka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ze SQL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může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využít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Function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žluté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světélko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výpočet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nebo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zpracování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vygeneruje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fakturu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zašle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jako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e-mail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zákazníkovi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Tady je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vidět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typický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pattern: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 App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orchestruje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Azure Function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vykonává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výpočet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7)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Výstupy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vrací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e-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maily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zpět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zákazníkovi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Zákazník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dostane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minimálně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 Confirmation Email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červená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obálka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Invoice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modrá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obálka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Schéma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krásně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ukazuje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že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workflow je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plně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asynchronní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založené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událostech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žádná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část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systému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nečeká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jinou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synchronně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764F6-20DF-4459-862B-64827B1A3974}" type="slidenum">
              <a:rPr lang="cs-CZ" smtClean="0"/>
              <a:pPr/>
              <a:t>10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66069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- Logic Apps </a:t>
            </a:r>
            <a:r>
              <a:rPr lang="cs-CZ" dirty="0" err="1"/>
              <a:t>Connectors</a:t>
            </a:r>
            <a:r>
              <a:rPr lang="cs-CZ" dirty="0"/>
              <a:t> (</a:t>
            </a:r>
            <a:r>
              <a:rPr lang="cs-CZ" dirty="0" err="1"/>
              <a:t>custom</a:t>
            </a:r>
            <a:r>
              <a:rPr lang="cs-CZ" dirty="0"/>
              <a:t> </a:t>
            </a:r>
            <a:r>
              <a:rPr lang="cs-CZ" dirty="0" err="1"/>
              <a:t>connectors</a:t>
            </a:r>
            <a:r>
              <a:rPr lang="cs-CZ" dirty="0"/>
              <a:t>)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764F6-20DF-4459-862B-64827B1A3974}" type="slidenum">
              <a:rPr lang="cs-CZ" smtClean="0"/>
              <a:pPr/>
              <a:t>12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64108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764F6-20DF-4459-862B-64827B1A3974}" type="slidenum">
              <a:rPr lang="cs-CZ" smtClean="0"/>
              <a:pPr/>
              <a:t>13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04902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cs-CZ" dirty="0"/>
              <a:t>Event </a:t>
            </a:r>
            <a:r>
              <a:rPr lang="cs-CZ" dirty="0" err="1"/>
              <a:t>Grid</a:t>
            </a:r>
            <a:endParaRPr lang="cs-CZ" dirty="0"/>
          </a:p>
          <a:p>
            <a:pPr marL="171450" indent="-171450">
              <a:buFontTx/>
              <a:buChar char="-"/>
            </a:pPr>
            <a:r>
              <a:rPr lang="cs-CZ" dirty="0"/>
              <a:t>Přidání položek do </a:t>
            </a:r>
            <a:r>
              <a:rPr lang="cs-CZ" dirty="0" err="1"/>
              <a:t>Blob</a:t>
            </a:r>
            <a:r>
              <a:rPr lang="cs-CZ" dirty="0"/>
              <a:t> </a:t>
            </a:r>
            <a:r>
              <a:rPr lang="cs-CZ" dirty="0" err="1"/>
              <a:t>Storage</a:t>
            </a:r>
            <a:r>
              <a:rPr lang="cs-CZ" dirty="0"/>
              <a:t> – </a:t>
            </a:r>
            <a:r>
              <a:rPr lang="cs-CZ" dirty="0" err="1"/>
              <a:t>resize</a:t>
            </a:r>
            <a:r>
              <a:rPr lang="cs-CZ" dirty="0"/>
              <a:t> obrázků</a:t>
            </a:r>
          </a:p>
          <a:p>
            <a:pPr marL="171450" indent="-171450">
              <a:buFontTx/>
              <a:buChar char="-"/>
            </a:pPr>
            <a:endParaRPr lang="cs-CZ" dirty="0"/>
          </a:p>
          <a:p>
            <a:pPr marL="171450" indent="-171450">
              <a:buFontTx/>
              <a:buChar char="-"/>
            </a:pPr>
            <a:r>
              <a:rPr lang="cs-CZ" dirty="0"/>
              <a:t>Logic Apps</a:t>
            </a:r>
          </a:p>
          <a:p>
            <a:pPr marL="171450" indent="-171450">
              <a:buFontTx/>
              <a:buChar char="-"/>
            </a:pPr>
            <a:r>
              <a:rPr lang="cs-CZ" dirty="0" err="1"/>
              <a:t>Custom</a:t>
            </a:r>
            <a:r>
              <a:rPr lang="cs-CZ" dirty="0"/>
              <a:t> </a:t>
            </a:r>
            <a:r>
              <a:rPr lang="cs-CZ" dirty="0" err="1"/>
              <a:t>connector</a:t>
            </a:r>
            <a:r>
              <a:rPr lang="cs-CZ" dirty="0"/>
              <a:t> (WSDL z MFČR ARES)</a:t>
            </a:r>
          </a:p>
          <a:p>
            <a:pPr marL="171450" indent="-171450">
              <a:buFontTx/>
              <a:buChar char="-"/>
            </a:pPr>
            <a:r>
              <a:rPr lang="cs-CZ" dirty="0"/>
              <a:t>Napojení na Event </a:t>
            </a:r>
            <a:r>
              <a:rPr lang="cs-CZ" dirty="0" err="1"/>
              <a:t>Grid</a:t>
            </a:r>
            <a:endParaRPr lang="cs-CZ" dirty="0"/>
          </a:p>
          <a:p>
            <a:pPr marL="171450" indent="-171450">
              <a:buFontTx/>
              <a:buChar char="-"/>
            </a:pPr>
            <a:r>
              <a:rPr lang="cs-CZ" dirty="0"/>
              <a:t>Facebook</a:t>
            </a:r>
          </a:p>
          <a:p>
            <a:pPr marL="171450" indent="-171450">
              <a:buFontTx/>
              <a:buChar char="-"/>
            </a:pPr>
            <a:endParaRPr lang="cs-CZ" dirty="0"/>
          </a:p>
          <a:p>
            <a:pPr marL="171450" indent="-171450">
              <a:buFontTx/>
              <a:buChar char="-"/>
            </a:pPr>
            <a:r>
              <a:rPr lang="cs-CZ" dirty="0" err="1"/>
              <a:t>Functions</a:t>
            </a:r>
            <a:endParaRPr lang="cs-CZ" dirty="0"/>
          </a:p>
          <a:p>
            <a:pPr marL="171450" indent="-171450">
              <a:buFontTx/>
              <a:buChar char="-"/>
            </a:pPr>
            <a:endParaRPr lang="cs-CZ" dirty="0"/>
          </a:p>
          <a:p>
            <a:pPr marL="171450" indent="-171450">
              <a:buFontTx/>
              <a:buChar char="-"/>
            </a:pPr>
            <a:r>
              <a:rPr lang="cs-CZ" dirty="0"/>
              <a:t>Když se v dropboxu objeví fotka, </a:t>
            </a:r>
            <a:r>
              <a:rPr lang="cs-CZ" dirty="0" err="1"/>
              <a:t>zazálohovat</a:t>
            </a:r>
            <a:r>
              <a:rPr lang="cs-CZ" dirty="0"/>
              <a:t> ji někam</a:t>
            </a:r>
          </a:p>
          <a:p>
            <a:pPr marL="171450" indent="-171450">
              <a:buFontTx/>
              <a:buChar char="-"/>
            </a:pPr>
            <a:r>
              <a:rPr lang="cs-CZ" dirty="0"/>
              <a:t>Uložit přílohy emailů do sdílené složky</a:t>
            </a:r>
          </a:p>
          <a:p>
            <a:pPr marL="171450" indent="-171450">
              <a:buFontTx/>
              <a:buChar char="-"/>
            </a:pPr>
            <a:r>
              <a:rPr lang="cs-CZ" dirty="0"/>
              <a:t>Sdílet fotky z Instagramu na Twitter a Facebook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764F6-20DF-4459-862B-64827B1A3974}" type="slidenum">
              <a:rPr lang="cs-CZ" smtClean="0"/>
              <a:pPr/>
              <a:t>14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99534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4400" kern="1200" spc="-300" baseline="0" dirty="0">
                <a:solidFill>
                  <a:srgbClr val="2097D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7435" y="3886200"/>
            <a:ext cx="9355765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129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4400" kern="1200" spc="-300" baseline="0" dirty="0">
                <a:solidFill>
                  <a:srgbClr val="2097D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05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1424" y="3056980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6600" kern="1200" spc="-300" baseline="0" dirty="0">
                <a:solidFill>
                  <a:srgbClr val="2097D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1424" y="1556793"/>
            <a:ext cx="10363200" cy="136815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spc="-130" baseline="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036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4400" kern="1200" spc="-300" baseline="0" dirty="0">
                <a:solidFill>
                  <a:srgbClr val="2097D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02.04.2026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7569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4400" kern="1200" spc="-300" baseline="0" dirty="0">
                <a:solidFill>
                  <a:srgbClr val="2097D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073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4400" kern="1200" spc="-300" baseline="0" dirty="0">
                <a:solidFill>
                  <a:srgbClr val="2097D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7063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6858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0" spc="-150" baseline="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 spc="-12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827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0" spc="-150" baseline="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 spc="-12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942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341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F2F8-F70A-47D7-AD2D-4F12E71A0C18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204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8A939CA1-1C32-41FC-8226-238AA43A91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28048" y="3861048"/>
            <a:ext cx="5486400" cy="28289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6F2F8-F70A-47D7-AD2D-4F12E71A0C18}" type="datetimeFigureOut">
              <a:rPr lang="cs-CZ" smtClean="0"/>
              <a:t>02.04.2026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C7A3D-8FA7-4FB8-8281-63C0B465B8E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387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b="0" kern="1200" spc="-300" baseline="0">
          <a:solidFill>
            <a:srgbClr val="2097D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 spc="-200" baseline="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 spc="-190" baseline="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spc="-180" baseline="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 spc="-170" baseline="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 spc="-130" baseline="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fnproject.io/" TargetMode="External"/><Relationship Id="rId3" Type="http://schemas.openxmlformats.org/officeDocument/2006/relationships/hyperlink" Target="https://cloud.google.com/functions/" TargetMode="External"/><Relationship Id="rId7" Type="http://schemas.openxmlformats.org/officeDocument/2006/relationships/hyperlink" Target="http://open.iron.io/" TargetMode="External"/><Relationship Id="rId2" Type="http://schemas.openxmlformats.org/officeDocument/2006/relationships/hyperlink" Target="https://aws.amazon.com/lambda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libabacloud.com/products/function-compute" TargetMode="External"/><Relationship Id="rId5" Type="http://schemas.openxmlformats.org/officeDocument/2006/relationships/hyperlink" Target="https://azure.microsoft.com/en-us/services/logic-apps/" TargetMode="External"/><Relationship Id="rId4" Type="http://schemas.openxmlformats.org/officeDocument/2006/relationships/hyperlink" Target="https://azure.microsoft.com/en-us/services/functions/" TargetMode="External"/><Relationship Id="rId9" Type="http://schemas.openxmlformats.org/officeDocument/2006/relationships/hyperlink" Target="https://www.ibm.com/cloud/function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zure.microsoft.com/en-us/pricing/details/event-grid/#pric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zure.microsoft.com/en-us/pricing/details/functions/#pricing" TargetMode="External"/><Relationship Id="rId4" Type="http://schemas.openxmlformats.org/officeDocument/2006/relationships/hyperlink" Target="https://azure.microsoft.com/en-us/pricing/details/logic-apps/#pricing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99456" y="3200994"/>
            <a:ext cx="8782744" cy="2028206"/>
          </a:xfrm>
        </p:spPr>
        <p:txBody>
          <a:bodyPr>
            <a:normAutofit/>
          </a:bodyPr>
          <a:lstStyle/>
          <a:p>
            <a:r>
              <a:rPr lang="en-US" dirty="0"/>
              <a:t>Serverless computing</a:t>
            </a:r>
          </a:p>
        </p:txBody>
      </p:sp>
      <p:sp>
        <p:nvSpPr>
          <p:cNvPr id="4" name="Subtitle 3"/>
          <p:cNvSpPr>
            <a:spLocks noGrp="1"/>
          </p:cNvSpPr>
          <p:nvPr>
            <p:ph type="body" idx="1"/>
          </p:nvPr>
        </p:nvSpPr>
        <p:spPr>
          <a:xfrm>
            <a:off x="1199456" y="1700808"/>
            <a:ext cx="8782744" cy="1368152"/>
          </a:xfrm>
        </p:spPr>
        <p:txBody>
          <a:bodyPr/>
          <a:lstStyle/>
          <a:p>
            <a:r>
              <a:rPr lang="en-US" dirty="0"/>
              <a:t>Ondřej Václavek</a:t>
            </a:r>
          </a:p>
          <a:p>
            <a:r>
              <a:rPr lang="en-US" sz="2000" dirty="0"/>
              <a:t>Software architect, HAVIT, </a:t>
            </a:r>
            <a:r>
              <a:rPr lang="en-US" sz="2000" dirty="0" err="1"/>
              <a:t>s.r.o.</a:t>
            </a:r>
            <a:br>
              <a:rPr lang="en-US" sz="2000" dirty="0"/>
            </a:br>
            <a:r>
              <a:rPr lang="en-US" sz="2000" dirty="0"/>
              <a:t>vaclavek@havit.cz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>
            <a:off x="263351" y="203498"/>
            <a:ext cx="11665297" cy="113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2F6F5F-6217-4EF8-BE39-8706E45C5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What</a:t>
            </a:r>
            <a:r>
              <a:rPr lang="cs-CZ" dirty="0"/>
              <a:t>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Serverless</a:t>
            </a:r>
            <a:r>
              <a:rPr lang="cs-CZ" dirty="0"/>
              <a:t>?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57C2F28-B719-40F2-9E59-CA35AA010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Abstraction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Servers</a:t>
            </a:r>
            <a:endParaRPr lang="cs-CZ" dirty="0"/>
          </a:p>
          <a:p>
            <a:r>
              <a:rPr lang="cs-CZ" dirty="0"/>
              <a:t>Event-</a:t>
            </a:r>
            <a:r>
              <a:rPr lang="cs-CZ" dirty="0" err="1"/>
              <a:t>driven</a:t>
            </a:r>
            <a:endParaRPr lang="en-US" dirty="0"/>
          </a:p>
          <a:p>
            <a:r>
              <a:rPr lang="en-US" dirty="0"/>
              <a:t>I</a:t>
            </a:r>
            <a:r>
              <a:rPr lang="cs-CZ" dirty="0" err="1"/>
              <a:t>nstant</a:t>
            </a:r>
            <a:r>
              <a:rPr lang="cs-CZ" dirty="0"/>
              <a:t> </a:t>
            </a:r>
            <a:r>
              <a:rPr lang="cs-CZ" dirty="0" err="1"/>
              <a:t>scale</a:t>
            </a:r>
            <a:endParaRPr lang="cs-CZ" dirty="0"/>
          </a:p>
          <a:p>
            <a:r>
              <a:rPr lang="cs-CZ" dirty="0" err="1"/>
              <a:t>Microservices</a:t>
            </a:r>
            <a:r>
              <a:rPr lang="cs-CZ" dirty="0"/>
              <a:t> -&gt; </a:t>
            </a:r>
            <a:r>
              <a:rPr lang="cs-CZ" dirty="0" err="1"/>
              <a:t>Nanoservices</a:t>
            </a:r>
            <a:endParaRPr lang="cs-CZ" dirty="0"/>
          </a:p>
          <a:p>
            <a:r>
              <a:rPr lang="cs-CZ" dirty="0" err="1"/>
              <a:t>Stateless</a:t>
            </a:r>
            <a:r>
              <a:rPr lang="cs-CZ" dirty="0"/>
              <a:t> </a:t>
            </a:r>
            <a:r>
              <a:rPr lang="cs-CZ" dirty="0" err="1"/>
              <a:t>functions</a:t>
            </a:r>
            <a:endParaRPr lang="cs-CZ" dirty="0"/>
          </a:p>
          <a:p>
            <a:r>
              <a:rPr lang="cs-CZ" dirty="0" err="1"/>
              <a:t>Micro-Billing</a:t>
            </a:r>
            <a:r>
              <a:rPr lang="cs-CZ" dirty="0"/>
              <a:t> (Cena = ∑ (</a:t>
            </a:r>
            <a:r>
              <a:rPr lang="cs-CZ" dirty="0" err="1"/>
              <a:t>Memory</a:t>
            </a:r>
            <a:r>
              <a:rPr lang="cs-CZ" dirty="0"/>
              <a:t>[GB] × Time[s]) × jednotková cena)</a:t>
            </a:r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7A4B436-9826-E920-BD0F-E69C25EF9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Cena = ∑ (Memory[GB] × Time[s]) × jednotková cena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74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E443C1-C16A-19D1-9DCF-39AA86C1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Hosting models</a:t>
            </a:r>
            <a:endParaRPr lang="cs-CZ" dirty="0"/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51FC4949-9A0A-7B69-A806-6442F7FB6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2835" y="1767389"/>
            <a:ext cx="9526329" cy="4191585"/>
          </a:xfrm>
        </p:spPr>
      </p:pic>
    </p:spTree>
    <p:extLst>
      <p:ext uri="{BB962C8B-B14F-4D97-AF65-F5344CB8AC3E}">
        <p14:creationId xmlns:p14="http://schemas.microsoft.com/office/powerpoint/2010/main" val="3671823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443D66-41B7-4C4F-8379-7046F8E0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Benefits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Serverless</a:t>
            </a:r>
            <a:endParaRPr lang="en-US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7CBA0-6377-41E0-B1FE-5D15A7056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Business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9DDB84-A13C-4379-8CB0-5FE7F1E7F6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Scalability</a:t>
            </a:r>
            <a:r>
              <a:rPr lang="cs-CZ" dirty="0"/>
              <a:t> </a:t>
            </a:r>
            <a:r>
              <a:rPr lang="cs-CZ" dirty="0" err="1"/>
              <a:t>out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box</a:t>
            </a:r>
          </a:p>
          <a:p>
            <a:r>
              <a:rPr lang="cs-CZ" dirty="0" err="1"/>
              <a:t>Reduced</a:t>
            </a:r>
            <a:r>
              <a:rPr lang="cs-CZ" dirty="0"/>
              <a:t> </a:t>
            </a:r>
            <a:r>
              <a:rPr lang="cs-CZ" dirty="0" err="1"/>
              <a:t>DevOps</a:t>
            </a:r>
            <a:r>
              <a:rPr lang="cs-CZ" dirty="0"/>
              <a:t> (</a:t>
            </a:r>
            <a:r>
              <a:rPr lang="cs-CZ" dirty="0" err="1"/>
              <a:t>patching</a:t>
            </a:r>
            <a:r>
              <a:rPr lang="cs-CZ" dirty="0"/>
              <a:t>, OS </a:t>
            </a:r>
            <a:r>
              <a:rPr lang="cs-CZ" dirty="0" err="1"/>
              <a:t>updates</a:t>
            </a:r>
            <a:r>
              <a:rPr lang="cs-CZ" dirty="0"/>
              <a:t> …)</a:t>
            </a:r>
          </a:p>
          <a:p>
            <a:r>
              <a:rPr lang="cs-CZ" dirty="0" err="1"/>
              <a:t>Can</a:t>
            </a:r>
            <a:r>
              <a:rPr lang="cs-CZ" dirty="0"/>
              <a:t> </a:t>
            </a:r>
            <a:r>
              <a:rPr lang="cs-CZ" dirty="0" err="1"/>
              <a:t>deploy</a:t>
            </a:r>
            <a:r>
              <a:rPr lang="cs-CZ" dirty="0"/>
              <a:t> </a:t>
            </a:r>
            <a:r>
              <a:rPr lang="cs-CZ" dirty="0" err="1"/>
              <a:t>functions</a:t>
            </a:r>
            <a:r>
              <a:rPr lang="cs-CZ" dirty="0"/>
              <a:t> </a:t>
            </a:r>
            <a:r>
              <a:rPr lang="cs-CZ" dirty="0" err="1"/>
              <a:t>independently</a:t>
            </a:r>
            <a:endParaRPr lang="cs-CZ" dirty="0"/>
          </a:p>
          <a:p>
            <a:r>
              <a:rPr lang="cs-CZ" dirty="0" err="1"/>
              <a:t>Faster</a:t>
            </a:r>
            <a:r>
              <a:rPr lang="cs-CZ" dirty="0"/>
              <a:t> </a:t>
            </a:r>
            <a:r>
              <a:rPr lang="cs-CZ" dirty="0" err="1"/>
              <a:t>delivery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product</a:t>
            </a:r>
            <a:r>
              <a:rPr lang="cs-CZ" dirty="0"/>
              <a:t> to market</a:t>
            </a:r>
            <a:endParaRPr lang="en-US" dirty="0"/>
          </a:p>
          <a:p>
            <a:r>
              <a:rPr lang="en-US" dirty="0"/>
              <a:t>Cost efficiency (GB-seconds, execution count)</a:t>
            </a:r>
          </a:p>
          <a:p>
            <a:r>
              <a:rPr lang="en-US" dirty="0"/>
              <a:t>Focus on core business</a:t>
            </a:r>
          </a:p>
          <a:p>
            <a:r>
              <a:rPr lang="en-US" dirty="0"/>
              <a:t>High availability (multi-regional fault tolerance)</a:t>
            </a:r>
            <a:endParaRPr lang="cs-CZ" dirty="0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1925543D-4000-4553-B62F-D7F61AA94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 err="1"/>
              <a:t>Developers</a:t>
            </a:r>
            <a:endParaRPr lang="en-US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651D4BA-F8EB-4EB4-A353-E638B3AEE7C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cs-CZ" dirty="0"/>
              <a:t>Focus on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application</a:t>
            </a:r>
            <a:r>
              <a:rPr lang="cs-CZ" dirty="0"/>
              <a:t>, not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infrastructure</a:t>
            </a:r>
            <a:endParaRPr lang="cs-CZ" dirty="0"/>
          </a:p>
          <a:p>
            <a:r>
              <a:rPr lang="cs-CZ" dirty="0"/>
              <a:t>More „</a:t>
            </a:r>
            <a:r>
              <a:rPr lang="cs-CZ" dirty="0" err="1"/>
              <a:t>simple</a:t>
            </a:r>
            <a:r>
              <a:rPr lang="cs-CZ" dirty="0"/>
              <a:t>“ </a:t>
            </a:r>
            <a:r>
              <a:rPr lang="cs-CZ" dirty="0" err="1"/>
              <a:t>functions</a:t>
            </a:r>
            <a:endParaRPr lang="cs-CZ" dirty="0"/>
          </a:p>
          <a:p>
            <a:r>
              <a:rPr lang="cs-CZ" dirty="0"/>
              <a:t>No </a:t>
            </a:r>
            <a:r>
              <a:rPr lang="cs-CZ" dirty="0" err="1"/>
              <a:t>configuration</a:t>
            </a:r>
            <a:r>
              <a:rPr lang="cs-CZ" dirty="0"/>
              <a:t> / admini</a:t>
            </a:r>
            <a:r>
              <a:rPr lang="en-US" dirty="0"/>
              <a:t>s</a:t>
            </a:r>
            <a:r>
              <a:rPr lang="cs-CZ" dirty="0" err="1"/>
              <a:t>tration</a:t>
            </a:r>
            <a:endParaRPr lang="cs-CZ" dirty="0"/>
          </a:p>
          <a:p>
            <a:r>
              <a:rPr lang="cs-CZ" dirty="0"/>
              <a:t>Monitoring out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box</a:t>
            </a:r>
            <a:endParaRPr lang="en-US" dirty="0"/>
          </a:p>
          <a:p>
            <a:r>
              <a:rPr lang="en-US" dirty="0"/>
              <a:t>Automatic scaling</a:t>
            </a:r>
          </a:p>
          <a:p>
            <a:r>
              <a:rPr lang="en-US" dirty="0"/>
              <a:t>Built-in redundancy and fault tolerance</a:t>
            </a:r>
          </a:p>
          <a:p>
            <a:r>
              <a:rPr lang="en-US" dirty="0"/>
              <a:t>Easier collaboration</a:t>
            </a:r>
            <a:endParaRPr lang="cs-CZ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58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08600F-0CD4-4396-89D1-73F5F1A3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Drawbacks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Serverless</a:t>
            </a:r>
            <a:endParaRPr lang="en-US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1DE08FB-59B6-49A0-83FF-8629A0E0D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Business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C783F2-0905-4EEB-94E3-76BBB0ED34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cs-CZ" dirty="0" err="1"/>
              <a:t>Reduced</a:t>
            </a:r>
            <a:r>
              <a:rPr lang="cs-CZ" dirty="0"/>
              <a:t> </a:t>
            </a:r>
            <a:r>
              <a:rPr lang="cs-CZ" dirty="0" err="1"/>
              <a:t>overall</a:t>
            </a:r>
            <a:r>
              <a:rPr lang="cs-CZ" dirty="0"/>
              <a:t> </a:t>
            </a:r>
            <a:r>
              <a:rPr lang="cs-CZ" dirty="0" err="1"/>
              <a:t>control</a:t>
            </a:r>
            <a:endParaRPr lang="cs-CZ" dirty="0"/>
          </a:p>
          <a:p>
            <a:r>
              <a:rPr lang="cs-CZ" dirty="0"/>
              <a:t>Vendor </a:t>
            </a:r>
            <a:r>
              <a:rPr lang="cs-CZ" dirty="0" err="1"/>
              <a:t>lock</a:t>
            </a:r>
            <a:r>
              <a:rPr lang="cs-CZ" dirty="0"/>
              <a:t>-in</a:t>
            </a:r>
          </a:p>
          <a:p>
            <a:r>
              <a:rPr lang="cs-CZ" dirty="0" err="1"/>
              <a:t>Trustfull</a:t>
            </a:r>
            <a:r>
              <a:rPr lang="cs-CZ" dirty="0"/>
              <a:t> </a:t>
            </a:r>
            <a:r>
              <a:rPr lang="cs-CZ" dirty="0" err="1"/>
              <a:t>third</a:t>
            </a:r>
            <a:r>
              <a:rPr lang="cs-CZ" dirty="0"/>
              <a:t>-party provider</a:t>
            </a:r>
          </a:p>
          <a:p>
            <a:r>
              <a:rPr lang="cs-CZ" dirty="0"/>
              <a:t>More </a:t>
            </a:r>
            <a:r>
              <a:rPr lang="cs-CZ" dirty="0" err="1"/>
              <a:t>security</a:t>
            </a:r>
            <a:r>
              <a:rPr lang="cs-CZ" dirty="0"/>
              <a:t> </a:t>
            </a:r>
            <a:r>
              <a:rPr lang="cs-CZ" dirty="0" err="1"/>
              <a:t>riscs</a:t>
            </a:r>
            <a:endParaRPr lang="cs-CZ" dirty="0"/>
          </a:p>
          <a:p>
            <a:r>
              <a:rPr lang="cs-CZ" dirty="0"/>
              <a:t>More </a:t>
            </a:r>
            <a:r>
              <a:rPr lang="cs-CZ" dirty="0" err="1"/>
              <a:t>disaster</a:t>
            </a:r>
            <a:r>
              <a:rPr lang="cs-CZ" dirty="0"/>
              <a:t> </a:t>
            </a:r>
            <a:r>
              <a:rPr lang="cs-CZ" dirty="0" err="1"/>
              <a:t>recovery</a:t>
            </a:r>
            <a:r>
              <a:rPr lang="cs-CZ" dirty="0"/>
              <a:t> </a:t>
            </a:r>
            <a:r>
              <a:rPr lang="cs-CZ" dirty="0" err="1"/>
              <a:t>riscs</a:t>
            </a:r>
            <a:endParaRPr lang="en-US" dirty="0"/>
          </a:p>
          <a:p>
            <a:r>
              <a:rPr lang="en-US" dirty="0"/>
              <a:t>Limited control of infrastructure</a:t>
            </a:r>
          </a:p>
          <a:p>
            <a:r>
              <a:rPr lang="en-US" dirty="0"/>
              <a:t>Cold start latency</a:t>
            </a:r>
          </a:p>
          <a:p>
            <a:r>
              <a:rPr lang="en-US" dirty="0"/>
              <a:t>Higher long-term costs</a:t>
            </a:r>
          </a:p>
          <a:p>
            <a:r>
              <a:rPr lang="en-US" dirty="0"/>
              <a:t>Limited execution time</a:t>
            </a:r>
            <a:endParaRPr lang="cs-CZ" dirty="0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D8CBE9C-17AA-4E50-A7BE-5CDEB88EE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 err="1"/>
              <a:t>Developers</a:t>
            </a:r>
            <a:endParaRPr lang="en-US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8B7173A-F667-44B8-A52A-3EE5CC34A77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New (</a:t>
            </a:r>
            <a:r>
              <a:rPr lang="cs-CZ" dirty="0" err="1"/>
              <a:t>bleeding-edge</a:t>
            </a:r>
            <a:r>
              <a:rPr lang="cs-CZ" dirty="0"/>
              <a:t>) </a:t>
            </a:r>
            <a:r>
              <a:rPr lang="cs-CZ" dirty="0" err="1"/>
              <a:t>technologies</a:t>
            </a:r>
            <a:endParaRPr lang="cs-CZ" dirty="0"/>
          </a:p>
          <a:p>
            <a:r>
              <a:rPr lang="cs-CZ" dirty="0" err="1"/>
              <a:t>Architectural</a:t>
            </a:r>
            <a:r>
              <a:rPr lang="cs-CZ" dirty="0"/>
              <a:t> </a:t>
            </a:r>
            <a:r>
              <a:rPr lang="cs-CZ" dirty="0" err="1"/>
              <a:t>complexity</a:t>
            </a:r>
            <a:endParaRPr lang="en-US" dirty="0"/>
          </a:p>
          <a:p>
            <a:r>
              <a:rPr lang="en-US" dirty="0"/>
              <a:t>Complexity of managing “state”</a:t>
            </a:r>
            <a:endParaRPr lang="cs-CZ" dirty="0"/>
          </a:p>
          <a:p>
            <a:r>
              <a:rPr lang="cs-CZ" dirty="0" err="1"/>
              <a:t>Challenging</a:t>
            </a:r>
            <a:r>
              <a:rPr lang="cs-CZ" dirty="0"/>
              <a:t> testing </a:t>
            </a:r>
            <a:r>
              <a:rPr lang="cs-CZ" dirty="0" err="1"/>
              <a:t>of</a:t>
            </a:r>
            <a:r>
              <a:rPr lang="cs-CZ" dirty="0"/>
              <a:t> „</a:t>
            </a:r>
            <a:r>
              <a:rPr lang="cs-CZ" dirty="0" err="1"/>
              <a:t>flows</a:t>
            </a:r>
            <a:r>
              <a:rPr lang="cs-CZ" dirty="0"/>
              <a:t>“</a:t>
            </a:r>
          </a:p>
          <a:p>
            <a:r>
              <a:rPr lang="cs-CZ" dirty="0" err="1"/>
              <a:t>Difficult</a:t>
            </a:r>
            <a:r>
              <a:rPr lang="cs-CZ" dirty="0"/>
              <a:t> </a:t>
            </a:r>
            <a:r>
              <a:rPr lang="cs-CZ" dirty="0" err="1"/>
              <a:t>local</a:t>
            </a:r>
            <a:r>
              <a:rPr lang="cs-CZ" dirty="0"/>
              <a:t> testing / debugging</a:t>
            </a:r>
            <a:endParaRPr lang="en-US" dirty="0"/>
          </a:p>
          <a:p>
            <a:r>
              <a:rPr lang="en-US" dirty="0"/>
              <a:t>Limited execution time</a:t>
            </a:r>
            <a:endParaRPr lang="cs-CZ" dirty="0"/>
          </a:p>
          <a:p>
            <a:r>
              <a:rPr lang="cs-CZ" dirty="0" err="1"/>
              <a:t>Missing</a:t>
            </a:r>
            <a:r>
              <a:rPr lang="cs-CZ" dirty="0"/>
              <a:t> </a:t>
            </a:r>
            <a:r>
              <a:rPr lang="cs-CZ" dirty="0" err="1"/>
              <a:t>tooling</a:t>
            </a:r>
            <a:endParaRPr lang="en-US" dirty="0"/>
          </a:p>
          <a:p>
            <a:r>
              <a:rPr lang="en-US" dirty="0"/>
              <a:t>Potential concurrency problems</a:t>
            </a:r>
          </a:p>
          <a:p>
            <a:r>
              <a:rPr lang="en-US" dirty="0"/>
              <a:t>Long-term maintenance</a:t>
            </a:r>
          </a:p>
        </p:txBody>
      </p:sp>
    </p:spTree>
    <p:extLst>
      <p:ext uri="{BB962C8B-B14F-4D97-AF65-F5344CB8AC3E}">
        <p14:creationId xmlns:p14="http://schemas.microsoft.com/office/powerpoint/2010/main" val="292391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CAF0C5-3C95-459E-9601-413C1E031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Serverless</a:t>
            </a:r>
            <a:r>
              <a:rPr lang="cs-CZ" dirty="0"/>
              <a:t> </a:t>
            </a:r>
            <a:r>
              <a:rPr lang="cs-CZ" dirty="0" err="1"/>
              <a:t>providers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3AA814C-C0DF-474E-B385-6E0017A3A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>
                <a:hlinkClick r:id="rId2"/>
              </a:rPr>
              <a:t>AWS Lambda</a:t>
            </a:r>
            <a:r>
              <a:rPr lang="cs-CZ" dirty="0"/>
              <a:t> (Amazon)</a:t>
            </a:r>
          </a:p>
          <a:p>
            <a:r>
              <a:rPr lang="cs-CZ" dirty="0">
                <a:hlinkClick r:id="rId3"/>
              </a:rPr>
              <a:t>Google Cloud</a:t>
            </a:r>
            <a:r>
              <a:rPr lang="en-US" dirty="0">
                <a:hlinkClick r:id="rId3"/>
              </a:rPr>
              <a:t> Run</a:t>
            </a:r>
            <a:r>
              <a:rPr lang="cs-CZ" dirty="0">
                <a:hlinkClick r:id="rId3"/>
              </a:rPr>
              <a:t> </a:t>
            </a:r>
            <a:r>
              <a:rPr lang="cs-CZ" dirty="0" err="1">
                <a:hlinkClick r:id="rId3"/>
              </a:rPr>
              <a:t>Functions</a:t>
            </a:r>
            <a:endParaRPr lang="cs-CZ" dirty="0"/>
          </a:p>
          <a:p>
            <a:r>
              <a:rPr lang="cs-CZ" dirty="0">
                <a:hlinkClick r:id="rId4"/>
              </a:rPr>
              <a:t>Azure Functions </a:t>
            </a:r>
            <a:r>
              <a:rPr lang="cs-CZ" dirty="0"/>
              <a:t>&amp; </a:t>
            </a:r>
            <a:r>
              <a:rPr lang="cs-CZ" dirty="0">
                <a:hlinkClick r:id="rId5"/>
              </a:rPr>
              <a:t>Logic Apps </a:t>
            </a:r>
            <a:r>
              <a:rPr lang="cs-CZ" dirty="0"/>
              <a:t>(Microsoft)</a:t>
            </a:r>
          </a:p>
          <a:p>
            <a:r>
              <a:rPr lang="cs-CZ" dirty="0">
                <a:hlinkClick r:id="rId6"/>
              </a:rPr>
              <a:t>Alibaba Cloud Function Compute</a:t>
            </a:r>
            <a:endParaRPr lang="cs-CZ" dirty="0"/>
          </a:p>
          <a:p>
            <a:r>
              <a:rPr lang="cs-CZ" dirty="0">
                <a:hlinkClick r:id="rId7"/>
              </a:rPr>
              <a:t>Iron Functions</a:t>
            </a:r>
            <a:r>
              <a:rPr lang="cs-CZ" dirty="0"/>
              <a:t> (Open-source)</a:t>
            </a:r>
          </a:p>
          <a:p>
            <a:r>
              <a:rPr lang="cs-CZ" dirty="0">
                <a:hlinkClick r:id="rId8"/>
              </a:rPr>
              <a:t>Fn Project</a:t>
            </a:r>
            <a:r>
              <a:rPr lang="cs-CZ" dirty="0"/>
              <a:t> (Oracle</a:t>
            </a:r>
            <a:r>
              <a:rPr lang="en-US" dirty="0"/>
              <a:t>, open-source)</a:t>
            </a:r>
            <a:r>
              <a:rPr lang="cs-CZ" dirty="0">
                <a:hlinkClick r:id="rId9"/>
              </a:rPr>
              <a:t> </a:t>
            </a:r>
          </a:p>
          <a:p>
            <a:r>
              <a:rPr lang="cs-CZ" dirty="0">
                <a:hlinkClick r:id="rId9"/>
              </a:rPr>
              <a:t>IBM Cloud Functions</a:t>
            </a:r>
            <a:r>
              <a:rPr lang="cs-CZ" dirty="0"/>
              <a:t> (</a:t>
            </a:r>
            <a:r>
              <a:rPr lang="cs-CZ" dirty="0" err="1"/>
              <a:t>deprecated</a:t>
            </a:r>
            <a:r>
              <a:rPr lang="cs-CZ" dirty="0"/>
              <a:t>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85052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ED55A8-6773-4402-9B9A-4B28A65E6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cs-CZ" dirty="0"/>
              <a:t>Microsoft Azure - </a:t>
            </a:r>
            <a:r>
              <a:rPr lang="cs-CZ" dirty="0" err="1"/>
              <a:t>Components</a:t>
            </a:r>
            <a:endParaRPr lang="en-US" dirty="0"/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EB88C46B-00E8-3657-FAAA-76C8F4B4C4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901467"/>
              </p:ext>
            </p:extLst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150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0CF758-54BE-4668-A49A-EECE92496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Event </a:t>
            </a:r>
            <a:r>
              <a:rPr lang="cs-CZ" dirty="0" err="1"/>
              <a:t>Grid</a:t>
            </a:r>
            <a:r>
              <a:rPr lang="cs-CZ" dirty="0"/>
              <a:t> / Event Hub / </a:t>
            </a:r>
            <a:r>
              <a:rPr lang="cs-CZ" dirty="0" err="1"/>
              <a:t>Service</a:t>
            </a:r>
            <a:r>
              <a:rPr lang="cs-CZ" dirty="0"/>
              <a:t> Bus</a:t>
            </a:r>
            <a:endParaRPr lang="en-GB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C31E07-AB37-4D61-97A8-9A3A6C6E6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Delivering</a:t>
            </a:r>
            <a:r>
              <a:rPr lang="cs-CZ" dirty="0"/>
              <a:t> event</a:t>
            </a:r>
            <a:r>
              <a:rPr lang="en-US" dirty="0"/>
              <a:t>s /</a:t>
            </a:r>
            <a:r>
              <a:rPr lang="cs-CZ" dirty="0"/>
              <a:t> </a:t>
            </a:r>
            <a:r>
              <a:rPr lang="cs-CZ" dirty="0" err="1"/>
              <a:t>messages</a:t>
            </a:r>
            <a:endParaRPr lang="cs-CZ" dirty="0"/>
          </a:p>
          <a:p>
            <a:r>
              <a:rPr lang="cs-CZ" dirty="0" err="1"/>
              <a:t>Events</a:t>
            </a:r>
            <a:r>
              <a:rPr lang="cs-CZ" dirty="0"/>
              <a:t>  X </a:t>
            </a:r>
            <a:r>
              <a:rPr lang="cs-CZ" dirty="0" err="1"/>
              <a:t>Messages</a:t>
            </a:r>
            <a:endParaRPr lang="cs-CZ" dirty="0"/>
          </a:p>
          <a:p>
            <a:pPr lvl="1"/>
            <a:r>
              <a:rPr lang="cs-CZ" dirty="0"/>
              <a:t>Event </a:t>
            </a:r>
            <a:r>
              <a:rPr lang="cs-CZ" dirty="0" err="1"/>
              <a:t>Grid</a:t>
            </a:r>
            <a:r>
              <a:rPr lang="cs-CZ" dirty="0"/>
              <a:t>: Publisher has no </a:t>
            </a:r>
            <a:r>
              <a:rPr lang="cs-CZ" dirty="0" err="1"/>
              <a:t>expectation</a:t>
            </a:r>
            <a:r>
              <a:rPr lang="cs-CZ" dirty="0"/>
              <a:t> </a:t>
            </a:r>
            <a:r>
              <a:rPr lang="cs-CZ" dirty="0" err="1"/>
              <a:t>how</a:t>
            </a:r>
            <a:r>
              <a:rPr lang="cs-CZ" dirty="0"/>
              <a:t> event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handeled</a:t>
            </a:r>
            <a:r>
              <a:rPr lang="cs-CZ" dirty="0"/>
              <a:t>. “</a:t>
            </a:r>
            <a:r>
              <a:rPr lang="cs-CZ" dirty="0" err="1"/>
              <a:t>File</a:t>
            </a:r>
            <a:r>
              <a:rPr lang="cs-CZ" dirty="0"/>
              <a:t> </a:t>
            </a:r>
            <a:r>
              <a:rPr lang="cs-CZ" dirty="0" err="1"/>
              <a:t>was</a:t>
            </a:r>
            <a:r>
              <a:rPr lang="cs-CZ" dirty="0"/>
              <a:t> </a:t>
            </a:r>
            <a:r>
              <a:rPr lang="cs-CZ" dirty="0" err="1"/>
              <a:t>uploaded</a:t>
            </a:r>
            <a:r>
              <a:rPr lang="cs-CZ" dirty="0"/>
              <a:t>“</a:t>
            </a:r>
          </a:p>
          <a:p>
            <a:pPr lvl="1"/>
            <a:r>
              <a:rPr lang="cs-CZ" dirty="0"/>
              <a:t>Event: „</a:t>
            </a:r>
            <a:r>
              <a:rPr lang="cs-CZ" dirty="0" err="1"/>
              <a:t>something</a:t>
            </a:r>
            <a:r>
              <a:rPr lang="cs-CZ" dirty="0"/>
              <a:t> has </a:t>
            </a:r>
            <a:r>
              <a:rPr lang="cs-CZ" dirty="0" err="1"/>
              <a:t>happened</a:t>
            </a:r>
            <a:r>
              <a:rPr lang="cs-CZ" dirty="0"/>
              <a:t>“ (</a:t>
            </a:r>
            <a:r>
              <a:rPr lang="cs-CZ" dirty="0" err="1"/>
              <a:t>Order</a:t>
            </a:r>
            <a:r>
              <a:rPr lang="cs-CZ" dirty="0"/>
              <a:t> </a:t>
            </a:r>
            <a:r>
              <a:rPr lang="cs-CZ" dirty="0" err="1"/>
              <a:t>placed</a:t>
            </a:r>
            <a:r>
              <a:rPr lang="cs-CZ" dirty="0"/>
              <a:t>) vs </a:t>
            </a:r>
            <a:r>
              <a:rPr lang="cs-CZ" dirty="0" err="1"/>
              <a:t>message</a:t>
            </a:r>
            <a:r>
              <a:rPr lang="cs-CZ" dirty="0"/>
              <a:t>: „ </a:t>
            </a:r>
            <a:r>
              <a:rPr lang="cs-CZ" dirty="0" err="1"/>
              <a:t>raw</a:t>
            </a:r>
            <a:r>
              <a:rPr lang="cs-CZ" dirty="0"/>
              <a:t> data“</a:t>
            </a:r>
          </a:p>
          <a:p>
            <a:endParaRPr lang="en-GB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ED4BB36-74D3-4AF0-8001-B96A5EA74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3789040"/>
            <a:ext cx="85629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7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F43F1C-AE6E-4266-B197-C98CB51C1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Azure Event </a:t>
            </a:r>
            <a:r>
              <a:rPr lang="cs-CZ" dirty="0" err="1"/>
              <a:t>Grid</a:t>
            </a:r>
            <a:endParaRPr lang="en-US" dirty="0"/>
          </a:p>
        </p:txBody>
      </p:sp>
      <p:pic>
        <p:nvPicPr>
          <p:cNvPr id="1026" name="Picture 2" descr="Event Grid model of sources and handlers">
            <a:extLst>
              <a:ext uri="{FF2B5EF4-FFF2-40B4-BE49-F238E27FC236}">
                <a16:creationId xmlns:a16="http://schemas.microsoft.com/office/drawing/2014/main" id="{4607948E-B1C9-4CC4-AD3A-F9EF3364A9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908" y="1600200"/>
            <a:ext cx="6768183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24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276502-EA6A-4F78-839E-2F8961E5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Azure </a:t>
            </a:r>
            <a:r>
              <a:rPr lang="cs-CZ" dirty="0" err="1"/>
              <a:t>Functions</a:t>
            </a:r>
            <a:endParaRPr lang="en-US" dirty="0"/>
          </a:p>
        </p:txBody>
      </p:sp>
      <p:pic>
        <p:nvPicPr>
          <p:cNvPr id="2050" name="Picture 2" descr="VÃ½sledek obrÃ¡zku pro azure functions">
            <a:extLst>
              <a:ext uri="{FF2B5EF4-FFF2-40B4-BE49-F238E27FC236}">
                <a16:creationId xmlns:a16="http://schemas.microsoft.com/office/drawing/2014/main" id="{7AB8DD5D-261D-47D6-9E22-48D76AB825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046" y="1600200"/>
            <a:ext cx="7941908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061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D173FA-0048-4A44-B9AE-B8EAA148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Azure </a:t>
            </a:r>
            <a:r>
              <a:rPr lang="cs-CZ" dirty="0" err="1"/>
              <a:t>Functions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420661-A4AF-438E-915B-90C0D0FED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Event-Driven </a:t>
            </a:r>
          </a:p>
          <a:p>
            <a:r>
              <a:rPr lang="en-US" dirty="0"/>
              <a:t>Scalable</a:t>
            </a:r>
          </a:p>
          <a:p>
            <a:r>
              <a:rPr lang="en-US" dirty="0"/>
              <a:t>Pay-per-use</a:t>
            </a:r>
          </a:p>
          <a:p>
            <a:r>
              <a:rPr lang="en-US" dirty="0"/>
              <a:t>Multiple languages supported</a:t>
            </a:r>
          </a:p>
          <a:p>
            <a:r>
              <a:rPr lang="en-US" dirty="0"/>
              <a:t>Quick deployment</a:t>
            </a:r>
          </a:p>
          <a:p>
            <a:r>
              <a:rPr lang="en-US" dirty="0"/>
              <a:t>S</a:t>
            </a:r>
            <a:r>
              <a:rPr lang="cs-CZ" dirty="0" err="1"/>
              <a:t>tateless</a:t>
            </a:r>
            <a:r>
              <a:rPr lang="en-US" dirty="0"/>
              <a:t> by default (+ durable functions)</a:t>
            </a:r>
          </a:p>
          <a:p>
            <a:r>
              <a:rPr lang="en-US" dirty="0"/>
              <a:t>Integrations with other Azure services</a:t>
            </a:r>
          </a:p>
          <a:p>
            <a:r>
              <a:rPr lang="en-US" dirty="0"/>
              <a:t>Built-in monitoring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07061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CDF2A3-CE0B-41C8-80A3-7C303952C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Azure Logic Apps</a:t>
            </a:r>
            <a:endParaRPr lang="en-US" dirty="0"/>
          </a:p>
        </p:txBody>
      </p:sp>
      <p:pic>
        <p:nvPicPr>
          <p:cNvPr id="9" name="Zástupný obsah 8">
            <a:extLst>
              <a:ext uri="{FF2B5EF4-FFF2-40B4-BE49-F238E27FC236}">
                <a16:creationId xmlns:a16="http://schemas.microsoft.com/office/drawing/2014/main" id="{E2C0078B-14E2-9C0E-D4C8-118AB2231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67608" y="1259570"/>
            <a:ext cx="7214757" cy="5323792"/>
          </a:xfrm>
        </p:spPr>
      </p:pic>
    </p:spTree>
    <p:extLst>
      <p:ext uri="{BB962C8B-B14F-4D97-AF65-F5344CB8AC3E}">
        <p14:creationId xmlns:p14="http://schemas.microsoft.com/office/powerpoint/2010/main" val="184130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D71688-AAB1-4A94-99EB-82E256C97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Azure </a:t>
            </a:r>
            <a:r>
              <a:rPr lang="cs-CZ" dirty="0" err="1"/>
              <a:t>Serverless</a:t>
            </a:r>
            <a:r>
              <a:rPr lang="cs-CZ" dirty="0"/>
              <a:t> Pricing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DE5F641-F106-4A09-9A16-5C7096BB2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09119"/>
          </a:xfrm>
        </p:spPr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Event Grid</a:t>
            </a:r>
            <a:r>
              <a:rPr lang="en-US" dirty="0"/>
              <a:t> (basic tier)</a:t>
            </a:r>
          </a:p>
          <a:p>
            <a:pPr lvl="1"/>
            <a:r>
              <a:rPr lang="en-US" dirty="0"/>
              <a:t>First 100 000 operations for free</a:t>
            </a:r>
            <a:r>
              <a:rPr lang="cs-CZ" dirty="0"/>
              <a:t>. </a:t>
            </a:r>
            <a:endParaRPr lang="en-US" dirty="0"/>
          </a:p>
          <a:p>
            <a:pPr lvl="1"/>
            <a:r>
              <a:rPr lang="en-US" dirty="0"/>
              <a:t>0,572€ for next 1 000 000 operations</a:t>
            </a:r>
          </a:p>
          <a:p>
            <a:r>
              <a:rPr lang="en-US" dirty="0">
                <a:hlinkClick r:id="rId4"/>
              </a:rPr>
              <a:t>Logic Apps</a:t>
            </a:r>
            <a:r>
              <a:rPr lang="en-US" dirty="0"/>
              <a:t> (consumption)</a:t>
            </a:r>
          </a:p>
          <a:p>
            <a:pPr lvl="1"/>
            <a:r>
              <a:rPr lang="en-US" dirty="0"/>
              <a:t>24€ for 1 000 000 actions</a:t>
            </a:r>
            <a:r>
              <a:rPr lang="cs-CZ" dirty="0"/>
              <a:t> (4 000 free)</a:t>
            </a:r>
            <a:endParaRPr lang="en-US" dirty="0"/>
          </a:p>
          <a:p>
            <a:pPr lvl="1"/>
            <a:r>
              <a:rPr lang="en-US" dirty="0"/>
              <a:t>1</a:t>
            </a:r>
            <a:r>
              <a:rPr lang="cs-CZ" dirty="0"/>
              <a:t>1</a:t>
            </a:r>
            <a:r>
              <a:rPr lang="en-US" dirty="0"/>
              <a:t>9€</a:t>
            </a:r>
            <a:r>
              <a:rPr lang="cs-CZ" dirty="0"/>
              <a:t> (9</a:t>
            </a:r>
            <a:r>
              <a:rPr lang="en-US" dirty="0"/>
              <a:t>52</a:t>
            </a:r>
            <a:r>
              <a:rPr lang="cs-CZ" dirty="0"/>
              <a:t>€)</a:t>
            </a:r>
            <a:r>
              <a:rPr lang="en-US" dirty="0"/>
              <a:t> for 1 000 000 runs of standard</a:t>
            </a:r>
            <a:r>
              <a:rPr lang="cs-CZ" dirty="0"/>
              <a:t> (</a:t>
            </a:r>
            <a:r>
              <a:rPr lang="cs-CZ" dirty="0" err="1"/>
              <a:t>enterprise</a:t>
            </a:r>
            <a:r>
              <a:rPr lang="cs-CZ" dirty="0"/>
              <a:t>)</a:t>
            </a:r>
            <a:r>
              <a:rPr lang="en-US" dirty="0"/>
              <a:t> connectors</a:t>
            </a:r>
          </a:p>
          <a:p>
            <a:r>
              <a:rPr lang="en-US" dirty="0">
                <a:hlinkClick r:id="rId5"/>
              </a:rPr>
              <a:t>Functions (+storage)</a:t>
            </a:r>
            <a:r>
              <a:rPr lang="en-US" dirty="0"/>
              <a:t> (consumption)</a:t>
            </a:r>
          </a:p>
          <a:p>
            <a:pPr lvl="1"/>
            <a:r>
              <a:rPr lang="en-US" dirty="0"/>
              <a:t>First 400 000 GB-s for free, 1 000 000 runs for free</a:t>
            </a:r>
          </a:p>
          <a:p>
            <a:pPr lvl="1"/>
            <a:r>
              <a:rPr lang="en-US" dirty="0"/>
              <a:t>16€ for 1 000 000 GB-s = average monthly memory consumption [GB] * run [s[ (measured in 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0,191€ for 1 000 000 runs</a:t>
            </a:r>
          </a:p>
        </p:txBody>
      </p:sp>
    </p:spTree>
    <p:extLst>
      <p:ext uri="{BB962C8B-B14F-4D97-AF65-F5344CB8AC3E}">
        <p14:creationId xmlns:p14="http://schemas.microsoft.com/office/powerpoint/2010/main" val="3667955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207568" y="908721"/>
            <a:ext cx="7772400" cy="2016225"/>
          </a:xfrm>
        </p:spPr>
        <p:txBody>
          <a:bodyPr>
            <a:normAutofit/>
          </a:bodyPr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4870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HAVIT">
      <a:dk1>
        <a:srgbClr val="2097D0"/>
      </a:dk1>
      <a:lt1>
        <a:sysClr val="window" lastClr="FFFFFF"/>
      </a:lt1>
      <a:dk2>
        <a:srgbClr val="114788"/>
      </a:dk2>
      <a:lt2>
        <a:srgbClr val="EEECE1"/>
      </a:lt2>
      <a:accent1>
        <a:srgbClr val="114788"/>
      </a:accent1>
      <a:accent2>
        <a:srgbClr val="C0504D"/>
      </a:accent2>
      <a:accent3>
        <a:srgbClr val="9BBB59"/>
      </a:accent3>
      <a:accent4>
        <a:srgbClr val="8064A2"/>
      </a:accent4>
      <a:accent5>
        <a:srgbClr val="2097D0"/>
      </a:accent5>
      <a:accent6>
        <a:srgbClr val="F79646"/>
      </a:accent6>
      <a:hlink>
        <a:srgbClr val="114788"/>
      </a:hlink>
      <a:folHlink>
        <a:srgbClr val="11478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e1" id="{9F2E4212-A0EE-40A4-88FA-F1F8352CAEB6}" vid="{EB65DDFE-1B01-4C27-A0C1-7AD2A0F497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Prezentace 16-9</Template>
  <TotalTime>1860</TotalTime>
  <Words>1285</Words>
  <Application>Microsoft Macintosh PowerPoint</Application>
  <PresentationFormat>Widescreen</PresentationFormat>
  <Paragraphs>197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UI</vt:lpstr>
      <vt:lpstr>Söhne</vt:lpstr>
      <vt:lpstr>Motiv Office</vt:lpstr>
      <vt:lpstr>Serverless computing</vt:lpstr>
      <vt:lpstr>What is Serverless?</vt:lpstr>
      <vt:lpstr>Hosting models</vt:lpstr>
      <vt:lpstr>Benefits of Serverless</vt:lpstr>
      <vt:lpstr>Drawbacks of Serverless</vt:lpstr>
      <vt:lpstr>Serverless providers</vt:lpstr>
      <vt:lpstr>Microsoft Azure - Components</vt:lpstr>
      <vt:lpstr>Event Grid / Event Hub / Service Bus</vt:lpstr>
      <vt:lpstr>Azure Event Grid</vt:lpstr>
      <vt:lpstr>Azure Functions</vt:lpstr>
      <vt:lpstr>Azure Functions</vt:lpstr>
      <vt:lpstr>Azure Logic Apps</vt:lpstr>
      <vt:lpstr>Azure Serverless Pricing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&lt;Název prezentace&gt;</dc:title>
  <dc:creator>Ondřej Václavek</dc:creator>
  <dc:description/>
  <cp:lastModifiedBy>Václavek, Ondřej</cp:lastModifiedBy>
  <cp:revision>36</cp:revision>
  <dcterms:created xsi:type="dcterms:W3CDTF">2019-03-30T16:06:54Z</dcterms:created>
  <dcterms:modified xsi:type="dcterms:W3CDTF">2026-04-02T11:04:05Z</dcterms:modified>
</cp:coreProperties>
</file>